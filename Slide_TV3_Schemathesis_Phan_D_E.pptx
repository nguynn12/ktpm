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8f0ab7447d46a3" /><Relationship Type="http://schemas.openxmlformats.org/officeDocument/2006/relationships/extended-properties" Target="/docProps/app.xml" Id="R2809ddd493b446e2" /><Relationship Type="http://schemas.openxmlformats.org/officeDocument/2006/relationships/officeDocument" Target="/ppt/presentation.xml" Id="R30ccd3985cfc476c" /></Relationships>
</file>

<file path=ppt/presentation.xml><?xml version="1.0" encoding="utf-8"?>
<p:presentation xmlns:p="http://schemas.openxmlformats.org/presentationml/2006/main">
  <p:sldMasterIdLst>
    <p:sldMasterId xmlns:r="http://schemas.openxmlformats.org/officeDocument/2006/relationships" id="2147483648" r:id="R715a132ffb844759"/>
  </p:sldMasterIdLst>
  <p:notesMasterIdLst>
    <p:notesMasterId xmlns:r="http://schemas.openxmlformats.org/officeDocument/2006/relationships" r:id="Rc9f63984840f45ce"/>
  </p:notesMasterIdLst>
  <p:sldIdLst>
    <p:sldId xmlns:r="http://schemas.openxmlformats.org/officeDocument/2006/relationships" id="256" r:id="R3ce2e23328f04949"/>
    <p:sldId xmlns:r="http://schemas.openxmlformats.org/officeDocument/2006/relationships" id="257" r:id="Rdf391cb35fd743f2"/>
    <p:sldId xmlns:r="http://schemas.openxmlformats.org/officeDocument/2006/relationships" id="258" r:id="R337457f2338646fe"/>
    <p:sldId xmlns:r="http://schemas.openxmlformats.org/officeDocument/2006/relationships" id="259" r:id="R00635ab645bb47c5"/>
    <p:sldId xmlns:r="http://schemas.openxmlformats.org/officeDocument/2006/relationships" id="260" r:id="R71929dbc66a54554"/>
    <p:sldId xmlns:r="http://schemas.openxmlformats.org/officeDocument/2006/relationships" id="261" r:id="R403bfe504b3d48c4"/>
    <p:sldId xmlns:r="http://schemas.openxmlformats.org/officeDocument/2006/relationships" id="262" r:id="R0e4a06ec2ac54698"/>
    <p:sldId xmlns:r="http://schemas.openxmlformats.org/officeDocument/2006/relationships" id="263" r:id="Rbc8968f2269a4d2e"/>
    <p:sldId xmlns:r="http://schemas.openxmlformats.org/officeDocument/2006/relationships" id="264" r:id="Rbbe5821d9d064162"/>
    <p:sldId xmlns:r="http://schemas.openxmlformats.org/officeDocument/2006/relationships" id="265" r:id="Ra950d9dd745444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4e5a72a8004b71" /><Relationship Type="http://schemas.openxmlformats.org/officeDocument/2006/relationships/slideMaster" Target="/ppt/slideMasters/slideMaster1.xml" Id="R715a132ffb844759" /><Relationship Type="http://schemas.openxmlformats.org/officeDocument/2006/relationships/notesMaster" Target="/ppt/notesMasters/notesMaster1.xml" Id="Rc9f63984840f45ce" /><Relationship Type="http://schemas.openxmlformats.org/officeDocument/2006/relationships/presProps" Target="/ppt/presProps.xml" Id="Re9f833fcc9b54bb0" /><Relationship Type="http://schemas.openxmlformats.org/officeDocument/2006/relationships/tableStyles" Target="/ppt/tableStyles.xml" Id="R1b066e14c89546be" /><Relationship Type="http://schemas.openxmlformats.org/officeDocument/2006/relationships/slide" Target="/ppt/slides/slide1.xml" Id="R3ce2e23328f04949" /><Relationship Type="http://schemas.openxmlformats.org/officeDocument/2006/relationships/slide" Target="/ppt/slides/slide2.xml" Id="Rdf391cb35fd743f2" /><Relationship Type="http://schemas.openxmlformats.org/officeDocument/2006/relationships/slide" Target="/ppt/slides/slide3.xml" Id="R337457f2338646fe" /><Relationship Type="http://schemas.openxmlformats.org/officeDocument/2006/relationships/slide" Target="/ppt/slides/slide4.xml" Id="R00635ab645bb47c5" /><Relationship Type="http://schemas.openxmlformats.org/officeDocument/2006/relationships/slide" Target="/ppt/slides/slide5.xml" Id="R71929dbc66a54554" /><Relationship Type="http://schemas.openxmlformats.org/officeDocument/2006/relationships/slide" Target="/ppt/slides/slide6.xml" Id="R403bfe504b3d48c4" /><Relationship Type="http://schemas.openxmlformats.org/officeDocument/2006/relationships/slide" Target="/ppt/slides/slide7.xml" Id="R0e4a06ec2ac54698" /><Relationship Type="http://schemas.openxmlformats.org/officeDocument/2006/relationships/slide" Target="/ppt/slides/slide8.xml" Id="Rbc8968f2269a4d2e" /><Relationship Type="http://schemas.openxmlformats.org/officeDocument/2006/relationships/slide" Target="/ppt/slides/slide9.xml" Id="Rbbe5821d9d064162" /><Relationship Type="http://schemas.openxmlformats.org/officeDocument/2006/relationships/slide" Target="/ppt/slides/slide10.xml" Id="Ra950d9dd745444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1512a5465643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29f330475e46bf" /><Relationship Type="http://schemas.openxmlformats.org/officeDocument/2006/relationships/notesMaster" Target="/ppt/notesMasters/notesMaster1.xml" Id="Rbcc129a8ab3e4f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8d4d0376cd4ea3" /><Relationship Type="http://schemas.openxmlformats.org/officeDocument/2006/relationships/notesMaster" Target="/ppt/notesMasters/notesMaster1.xml" Id="R90ac0938a78943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b017b0523e4f41" /><Relationship Type="http://schemas.openxmlformats.org/officeDocument/2006/relationships/notesMaster" Target="/ppt/notesMasters/notesMaster1.xml" Id="Rfd7771e0affb48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03d4ebdad94709" /><Relationship Type="http://schemas.openxmlformats.org/officeDocument/2006/relationships/notesMaster" Target="/ppt/notesMasters/notesMaster1.xml" Id="Reb043c012c0d49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1c712e0bfb45c7" /><Relationship Type="http://schemas.openxmlformats.org/officeDocument/2006/relationships/notesMaster" Target="/ppt/notesMasters/notesMaster1.xml" Id="Rfc820cbbaedc44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8aca89a0c74c17" /><Relationship Type="http://schemas.openxmlformats.org/officeDocument/2006/relationships/notesMaster" Target="/ppt/notesMasters/notesMaster1.xml" Id="R6c6c6dbf4fb840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116c33fd644598" /><Relationship Type="http://schemas.openxmlformats.org/officeDocument/2006/relationships/notesMaster" Target="/ppt/notesMasters/notesMaster1.xml" Id="R0d7729a21bb14e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97307d663f432d" /><Relationship Type="http://schemas.openxmlformats.org/officeDocument/2006/relationships/notesMaster" Target="/ppt/notesMasters/notesMaster1.xml" Id="R0bbb67a0364444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86f57bb0d64787" /><Relationship Type="http://schemas.openxmlformats.org/officeDocument/2006/relationships/notesMaster" Target="/ppt/notesMasters/notesMaster1.xml" Id="R573d77bcc5484c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5eec6c1763483f" /><Relationship Type="http://schemas.openxmlformats.org/officeDocument/2006/relationships/notesMaster" Target="/ppt/notesMasters/notesMaster1.xml" Id="Raad5e19c8d8a4a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phụ trách nghiên cứu Schemathesis và kế hoạch kiểm thử, tương ứng phần D và E. Nội dung gồm nguyên lý, phạm vi, giả định, rủi ro, tiêu chí đánh giá và thiết kế test scenario. Seed cá nhân của em là 303. Bộ slide này trình bày kế hoạch; phần bằng chứng sẽ cập nhật bằng log chạy trên máy em. Hiện chưa có log TV3 nên không có số liệu thực thi được tuyên bố.</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OpenAPI mô tả API, không phải schema cơ sở dữ liệu. Schemathesis đọc đặc tả rồi sinh nhiều request cho từng operation. Công cụ kiểm tra các thuộc tính của phản hồi như không có lỗi server và body phù hợp kiểu/trường trong schema. Khi tìm được input gây lỗi, cơ chế shrinking hỗ trợ đơn giản hóa input để dễ tái hiện. Vì schema không mô tả hết nghiệp vụ nên nhóm vẫn cần test tay và các luồng upload, gán metadata, tìm kiếm.</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https://schemathesis.readthedocs.io/en/stable/ ; https://schemathesis.readthedocs.io/en/stable/reference/checks/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gồm bốn nhóm endpoint. Vòng 2 chỉ ghi trên ba nhóm danh mục; documents được mở rộng ở vòng 3. Endpoint token được dùng để đăng nhập lấy token, không đưa vào fuzz. Tương tự schema là đầu vào chuẩn bị. Những nhóm quản trị, mail, tài khoản và server ngoài Internet không nằm trong phạm vi thử. Các thao tác con của documents phải được rà soát trước vòng ghi. Nếu chưa có thời gian hoặc điều kiện thì ghi chưa chạy.</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Vòng 1 chỉ đọc, với allowlist đủ bốn nhóm. Trong bản 4.30.1, coverage có probe phương thức chưa khai báo nên kế hoạch vòng 1 dùng examples và fuzzing cùng năm checks phản hồi để giữ mục tiêu GET. Vòng 2–3 dùng all checks và phases mặc định, có thể bao gồm probes trong phạm vi endpoint được cho phép. Mọi cấu hình phải ghi trong log. Max-examples 25 là cấu hình, không phải tổng số request đo được. Cần xin phép trước reset xóa dữ liệu, seed lại và chờ consume. Log TV2 vòng 1 có phạm vi rộng hơn, vì vậy không so trực tiếp tổng cases như cùng điều kiện.</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Schemathesis 4.30.1: --version và run --help đã thực thi khi chuẩn bị; log TV2 có Initialize xác nhận 4.30.1. Tham khảo https://schemathesis.readthedocs.io/en/stable/reference/cli/ ; đối chiếu CLI của phiên bản cài.</a:t>
            </a:r>
          </a:p>
          <a:p xmlns:a="http://schemas.openxmlformats.org/drawingml/2006/main">
            <a:r>
              <a:t>https://github.com/nguynn12/KTPM/tree/62e9a2ffbcb36bec9672c0e0c7a504cab20bf3f8 ; results/TV2_round1_seed202.ndjson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 hay Fail phụ thuộc oracle đã định trước chứ không phụ thuộc đơn thuần mã HTTP có phải 2xx. Ví dụ dữ liệu sai bị từ chối là đúng; ngược lại tạo thành công nhưng body thiếu trường bắt buộc vẫn vi phạm hợp đồng. Mã lỗi chưa mô tả trong schema tạo failure hợp đồng riêng. Khi token hỏng do thiết lập, phải sửa điều kiện chạy thay vì gọi đó là lỗi của phần mềm. Cần lưu actual và expected độc lập, không sửa expected chỉ để khớp actual. Ví dụ trong slide là tình huống đánh giá, không phải kết quả đã chạy của TV3.</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https://schemathesis.readthedocs.io/en/stable/reference/checks/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 định là Docker chạy ổn định, API cùng phiên bản, schema tải được và dữ liệu nền đã được xác minh. Khi các giả định không đúng, kết quả dễ sai lệch. Script reset API hiện tại chỉ xử lý trang đầu, còn reset volume xóa sạch dữ liệu và chưa tự seed lại. Vì vậy không được coi gọi reset là đã có baseline giống nhau. Cùng seed giúp kiểm soát ngẫu nhiên nhưng phiên bản Hypothesis, phases, schema và môi trường cũng ảnh hưởng. Khi phát hiện lỗi, request tối thiểu và log thực tế quan trọng hơn lời hứa tái hiện tuyệt đối.</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https://github.com/nguynn12/KTPM/tree/62e9a2ffbcb36bec9672c0e0c7a504cab20bf3f8 ; scripts/reset_data.py, scripts/reset_system.ps1, scripts/seed_data.py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thiết kế 20 ca cho mỗi tài nguyên Correspondents và Document Types, tổng cộng 40 ca thiết kế, chưa phải 40 ca đã thực thi. Phân vùng tương đương chọn đại diện hợp lệ và không hợp lệ. Kiểm tra biên dùng L-1, L và L+1 sau khi xác minh maxLength trong schema. Ghi chú của TV2 nêu 128 nhưng không lấy kết quả này thay việc kiểm tra schema thực tế. Các ca CRUD sử dụng ID lấy từ response, không viết cứng 95. Các test auth không dùng cookie phiên đăng nhập. Nếu fixture tạo thất bại thì ca phụ thuộc bị chặn.</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https://github.com/nguynn12/KTPM/tree/62e9a2ffbcb36bec9672c0e0c7a504cab20bf3f8 ; docs/ARCHITECTURE_NOTES.md; tài liệu bàn giao docs/TEST_CASES_TV3.md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này bổ sung ý nghĩa nghiệp vụ cho việc kiểm tra hợp đồng. Upload accepted chỉ có nghĩa yêu cầu được nhận, phải chờ task thành công và đối chiếu nội dung. Hai file TXT hiện có trong seed nhóm chứng minh nhập văn bản nhưng chưa đủ chứng minh OCR ảnh. Nếu tuyên bố đã nhận dạng ảnh, cần PDF scan hoặc ảnh có chữ và nội dung nhận dạng tương ứng. Luồng gán metadata phải GET lại để kiểm tra ID, luồng tìm kiếm phải trả đúng tài liệu mẫu. Bằng chứng TV3 chưa có ở thời điểm soạn slide.</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https://github.com/nguynn12/KTPM/tree/62e9a2ffbcb36bec9672c0e0c7a504cab20bf3f8 ; scripts/seed_data.py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lấy số failure làm số lỗi độc lập. Cần giữ input tối thiểu, tái hiện hai lần và phân loại nguyên nhân. Repo có BUG-01 về set_permissions và BUG-03 về response thiếu trường. Đây là báo cáo của TV2; TV3 chưa có log nên chưa được nói đã xác nhận. Nếu dùng ví dụ này khi trình bày, ghi đúng người phát hiện. Nguyên nhân gốc cần mở mã đúng release; nếu chỉ đọc báo cáo của đồng đội thì nói đó là phân tích của TV2. Theo quy tắc nhóm, việc người thứ hai tái hiện bổ sung độ tin cậy nhưng vẫn cần phân loại schema/test/môi trường.</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https://github.com/nguynn12/KTPM/tree/62e9a2ffbcb36bec9672c0e0c7a504cab20bf3f8 ; docs/bugs/BUG-01.md, docs/bugs/BUG-03.md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trang cần cập nhật sau khi chạy trên máy TV3. Hiện chỉ clone và đọc repo, cài CLI để xác minh tùy chọn; chưa có Docker chạy Paperless và chưa có kiểm thử TV3. Khi có log, thay trạng thái bằng operations được chọn, cases sinh, failures/errors, thời gian và đường dẫn bằng chứng, giữ đúng đơn vị metric. Không đếm phần tử JUnit thành số request. Nếu chưa kịp chạy một vòng thì ghi chưa chạy hoặc bị chặn, không điền số 0. Khi thuyết trình, trình bày đúng những gì đã làm tại thời điểm đó.</a:t>
            </a:r>
          </a:p>
          <a:p xmlns:a="http://schemas.openxmlformats.org/drawingml/2006/main">
            <a:r>
              <a:t/>
            </a:r>
          </a:p>
          <a:p xmlns:a="http://schemas.openxmlformats.org/drawingml/2006/main">
            <a:r>
              <a:t>Nguồn: PDF kế hoạch R08 + K05 (người dùng cung cấp), tr. 2, 4–6, 8–9; AGENT_TASKS.md mục 5–10.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49011694f14e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29a7d2472648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5e483b940443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ebf8ddaf7c42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d9e95a059c4e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f95b0a6807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7D1097-C53A-400D-9081-DE9A278D92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BC5B4E-AE62-43F3-8731-44CB8F2CCA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DC969F-41B7-485F-82F9-2922D522CC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A5224D-4865-451D-B24B-88AE0A58B9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BE0546-22F6-4A97-9604-E7C4DA860D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33B609-5068-4443-8BFC-00F3DB29B7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60F9AE-D0B9-421D-95DA-B28044EE5E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20C145-7CE9-4687-8A9E-0D6598310B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73C3DA-1DE8-49F4-85C3-12B8F95096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E94F68-6956-4771-BE76-49A7E52B02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465e85e39247e3" /><Relationship Type="http://schemas.openxmlformats.org/officeDocument/2006/relationships/slideLayout" Target="/ppt/slideLayouts/slideLayout1.xml" Id="R8f403fa63d814ff0" /><Relationship Type="http://schemas.openxmlformats.org/officeDocument/2006/relationships/slideLayout" Target="/ppt/slideLayouts/slideLayout2.xml" Id="R89923790a5304f12" /><Relationship Type="http://schemas.openxmlformats.org/officeDocument/2006/relationships/slideLayout" Target="/ppt/slideLayouts/slideLayout3.xml" Id="Red13310fbe794d62" /><Relationship Type="http://schemas.openxmlformats.org/officeDocument/2006/relationships/slideLayout" Target="/ppt/slideLayouts/slideLayout4.xml" Id="R2568ff61965b412b" /><Relationship Type="http://schemas.openxmlformats.org/officeDocument/2006/relationships/slideLayout" Target="/ppt/slideLayouts/slideLayout5.xml" Id="R2297415861b64d89" /><Relationship Type="http://schemas.openxmlformats.org/officeDocument/2006/relationships/slideLayout" Target="/ppt/slideLayouts/slideLayout6.xml" Id="R9a05b18e0d4e42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403fa63d814ff0"/>
    <p:sldLayoutId xmlns:r="http://schemas.openxmlformats.org/officeDocument/2006/relationships" id="2147483650" r:id="R89923790a5304f12"/>
    <p:sldLayoutId xmlns:r="http://schemas.openxmlformats.org/officeDocument/2006/relationships" id="2147483651" r:id="Red13310fbe794d62"/>
    <p:sldLayoutId xmlns:r="http://schemas.openxmlformats.org/officeDocument/2006/relationships" id="2147483652" r:id="R2568ff61965b412b"/>
    <p:sldLayoutId xmlns:r="http://schemas.openxmlformats.org/officeDocument/2006/relationships" id="2147483653" r:id="R2297415861b64d89"/>
    <p:sldLayoutId xmlns:r="http://schemas.openxmlformats.org/officeDocument/2006/relationships" id="2147483654" r:id="R9a05b18e0d4e42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e8c5a8667a482c" /><Relationship Type="http://schemas.openxmlformats.org/officeDocument/2006/relationships/notesSlide" Target="/ppt/notesSlides/notesSlide1.xml" Id="R5ed9f8bc0a974d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871edaf1fc4eae" /><Relationship Type="http://schemas.openxmlformats.org/officeDocument/2006/relationships/notesSlide" Target="/ppt/notesSlides/notesSlide2.xml" Id="R0c276aa756954e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0715f9d7d64660" /><Relationship Type="http://schemas.openxmlformats.org/officeDocument/2006/relationships/notesSlide" Target="/ppt/notesSlides/notesSlide3.xml" Id="R7e52fb71dba44a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b5054a96d14728" /><Relationship Type="http://schemas.openxmlformats.org/officeDocument/2006/relationships/notesSlide" Target="/ppt/notesSlides/notesSlide4.xml" Id="R4eb053d8c1a542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d4b13aba7c4d54" /><Relationship Type="http://schemas.openxmlformats.org/officeDocument/2006/relationships/notesSlide" Target="/ppt/notesSlides/notesSlide5.xml" Id="Rdadbee38418741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eb955b39f64cb7" /><Relationship Type="http://schemas.openxmlformats.org/officeDocument/2006/relationships/notesSlide" Target="/ppt/notesSlides/notesSlide6.xml" Id="R6423fe45d03649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c32d2249134b91" /><Relationship Type="http://schemas.openxmlformats.org/officeDocument/2006/relationships/notesSlide" Target="/ppt/notesSlides/notesSlide7.xml" Id="Rc53b78bf81e34a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0872c8de014109" /><Relationship Type="http://schemas.openxmlformats.org/officeDocument/2006/relationships/notesSlide" Target="/ppt/notesSlides/notesSlide8.xml" Id="Rdd65d906c4ee4d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515d0f67724793" /><Relationship Type="http://schemas.openxmlformats.org/officeDocument/2006/relationships/notesSlide" Target="/ppt/notesSlides/notesSlide9.xml" Id="R036f8a0c3ed745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7b441a0200419b" /><Relationship Type="http://schemas.openxmlformats.org/officeDocument/2006/relationships/notesSlide" Target="/ppt/notesSlides/notesSlide10.xml" Id="R6e7e8b494e1145ee"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E24D2F-2A0F-43E4-A8B4-1F0864B62070}"/>
              </a:ext>
            </a:extLst>
          </p:cNvPr>
          <p:cNvSpPr>
            <a:spLocks xmlns:a="http://schemas.openxmlformats.org/drawingml/2006/main" noGrp="1"/>
          </p:cNvSpPr>
          <p:nvPr/>
        </p:nvSpPr>
        <p:spPr>
          <a:xfrm xmlns:a="http://schemas.openxmlformats.org/drawingml/2006/main">
            <a:off x="609600" y="838200"/>
            <a:ext cx="914400" cy="762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1C074752-A621-4559-8142-EDCC106D0AE8}"/>
              </a:ext>
            </a:extLst>
          </p:cNvPr>
          <p:cNvSpPr>
            <a:spLocks xmlns:a="http://schemas.openxmlformats.org/drawingml/2006/main" noGrp="1"/>
          </p:cNvSpPr>
          <p:nvPr/>
        </p:nvSpPr>
        <p:spPr>
          <a:xfrm xmlns:a="http://schemas.openxmlformats.org/drawingml/2006/main">
            <a:off x="609600" y="1162050"/>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82D6CE"/>
                </a:solidFill>
                <a:latin typeface="DejaVu Sans"/>
                <a:ea typeface="DejaVu Sans"/>
                <a:cs typeface="DejaVu Sans"/>
              </a:defRPr>
            </a:defPPr>
          </a:lstStyle>
          <a:p xmlns:a="http://schemas.openxmlformats.org/drawingml/2006/main">
            <a:pPr>
              <a:defRPr sz="1650" b="1">
                <a:solidFill>
                  <a:srgbClr val="82D6CE"/>
                </a:solidFill>
                <a:latin typeface="DejaVu Sans"/>
                <a:ea typeface="DejaVu Sans"/>
                <a:cs typeface="DejaVu Sans"/>
              </a:defRPr>
            </a:pPr>
            <a:r>
              <a:rPr sz="1650" b="1">
                <a:solidFill>
                  <a:srgbClr val="82D6CE"/>
                </a:solidFill>
                <a:latin typeface="DejaVu Sans"/>
                <a:ea typeface="DejaVu Sans"/>
                <a:cs typeface="DejaVu Sans"/>
              </a:rPr>
              <a:t>KIỂM THỬ PHẦN MỀM · R08 + K05</a:t>
            </a:r>
          </a:p>
        </p:txBody>
      </p:sp>
      <p:sp>
        <p:nvSpPr>
          <p:cNvPr id="3" name="text-2">
            <a:extLst xmlns:a="http://schemas.openxmlformats.org/drawingml/2006/main">
              <a:ext uri="{FF2B5EF4-FFF2-40B4-BE49-F238E27FC236}">
                <a16:creationId xmlns:a16="http://schemas.microsoft.com/office/drawing/2014/main" id="{FAB4C1FD-5E20-48B3-83C5-D7ABC7EBB1E6}"/>
              </a:ext>
            </a:extLst>
          </p:cNvPr>
          <p:cNvSpPr>
            <a:spLocks xmlns:a="http://schemas.openxmlformats.org/drawingml/2006/main" noGrp="1"/>
          </p:cNvSpPr>
          <p:nvPr/>
        </p:nvSpPr>
        <p:spPr>
          <a:xfrm xmlns:a="http://schemas.openxmlformats.org/drawingml/2006/main">
            <a:off x="609600" y="1943100"/>
            <a:ext cx="109728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DejaVu Sans"/>
                <a:ea typeface="DejaVu Sans"/>
                <a:cs typeface="DejaVu Sans"/>
              </a:defRPr>
            </a:defPPr>
          </a:lstStyle>
          <a:p xmlns:a="http://schemas.openxmlformats.org/drawingml/2006/main">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Schemathesis &amp;</a:t>
            </a:r>
          </a:p>
          <a:p xmlns:a="http://schemas.openxmlformats.org/drawingml/2006/main">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kế hoạch kiểm thử</a:t>
            </a:r>
          </a:p>
        </p:txBody>
      </p:sp>
      <p:sp>
        <p:nvSpPr>
          <p:cNvPr id="4" name="text-3">
            <a:extLst xmlns:a="http://schemas.openxmlformats.org/drawingml/2006/main">
              <a:ext uri="{FF2B5EF4-FFF2-40B4-BE49-F238E27FC236}">
                <a16:creationId xmlns:a16="http://schemas.microsoft.com/office/drawing/2014/main" id="{C848D265-615C-401E-91A9-7E1053C343CF}"/>
              </a:ext>
            </a:extLst>
          </p:cNvPr>
          <p:cNvSpPr>
            <a:spLocks xmlns:a="http://schemas.openxmlformats.org/drawingml/2006/main" noGrp="1"/>
          </p:cNvSpPr>
          <p:nvPr/>
        </p:nvSpPr>
        <p:spPr>
          <a:xfrm xmlns:a="http://schemas.openxmlformats.org/drawingml/2006/main">
            <a:off x="609600" y="39052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0">
                <a:solidFill>
                  <a:srgbClr val="DCE8F0"/>
                </a:solidFill>
                <a:latin typeface="DejaVu Sans"/>
                <a:ea typeface="DejaVu Sans"/>
                <a:cs typeface="DejaVu Sans"/>
              </a:defRPr>
            </a:defPPr>
          </a:lstStyle>
          <a:p xmlns:a="http://schemas.openxmlformats.org/drawingml/2006/main">
            <a:pPr>
              <a:defRPr sz="2250" b="0">
                <a:solidFill>
                  <a:srgbClr val="DCE8F0"/>
                </a:solidFill>
                <a:latin typeface="DejaVu Sans"/>
                <a:ea typeface="DejaVu Sans"/>
                <a:cs typeface="DejaVu Sans"/>
              </a:defRPr>
            </a:pPr>
            <a:r>
              <a:rPr sz="2250" b="0">
                <a:solidFill>
                  <a:srgbClr val="DCE8F0"/>
                </a:solidFill>
                <a:latin typeface="DejaVu Sans"/>
                <a:ea typeface="DejaVu Sans"/>
                <a:cs typeface="DejaVu Sans"/>
              </a:rPr>
              <a:t>Paperless-ngx · Phần D–E</a:t>
            </a:r>
          </a:p>
        </p:txBody>
      </p:sp>
      <p:sp>
        <p:nvSpPr>
          <p:cNvPr id="5" name="text-4">
            <a:extLst xmlns:a="http://schemas.openxmlformats.org/drawingml/2006/main">
              <a:ext uri="{FF2B5EF4-FFF2-40B4-BE49-F238E27FC236}">
                <a16:creationId xmlns:a16="http://schemas.microsoft.com/office/drawing/2014/main" id="{493ED7FF-373E-4EB6-89AA-5123107EEF74}"/>
              </a:ext>
            </a:extLst>
          </p:cNvPr>
          <p:cNvSpPr>
            <a:spLocks xmlns:a="http://schemas.openxmlformats.org/drawingml/2006/main" noGrp="1"/>
          </p:cNvSpPr>
          <p:nvPr/>
        </p:nvSpPr>
        <p:spPr>
          <a:xfrm xmlns:a="http://schemas.openxmlformats.org/drawingml/2006/main">
            <a:off x="609600" y="54292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DejaVu Sans"/>
                <a:ea typeface="DejaVu Sans"/>
                <a:cs typeface="DejaVu Sans"/>
              </a:defRPr>
            </a:def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Nguyễn Khiêm Thuận  |  2312764  |  TV3  |  Seed 303</a:t>
            </a:r>
          </a:p>
        </p:txBody>
      </p:sp>
      <p:sp>
        <p:nvSpPr>
          <p:cNvPr id="6" name="text-5">
            <a:extLst xmlns:a="http://schemas.openxmlformats.org/drawingml/2006/main">
              <a:ext uri="{FF2B5EF4-FFF2-40B4-BE49-F238E27FC236}">
                <a16:creationId xmlns:a16="http://schemas.microsoft.com/office/drawing/2014/main" id="{81581E04-EE06-4634-A7C0-37E30E0701DE}"/>
              </a:ext>
            </a:extLst>
          </p:cNvPr>
          <p:cNvSpPr>
            <a:spLocks xmlns:a="http://schemas.openxmlformats.org/drawingml/2006/main" noGrp="1"/>
          </p:cNvSpPr>
          <p:nvPr/>
        </p:nvSpPr>
        <p:spPr>
          <a:xfrm xmlns:a="http://schemas.openxmlformats.org/drawingml/2006/main">
            <a:off x="609600" y="6143625"/>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A9C0D0"/>
                </a:solidFill>
                <a:latin typeface="DejaVu Sans"/>
                <a:ea typeface="DejaVu Sans"/>
                <a:cs typeface="DejaVu Sans"/>
              </a:defRPr>
            </a:defPPr>
          </a:lstStyle>
          <a:p xmlns:a="http://schemas.openxmlformats.org/drawingml/2006/main">
            <a:pPr>
              <a:defRPr sz="1350" b="0">
                <a:solidFill>
                  <a:srgbClr val="A9C0D0"/>
                </a:solidFill>
                <a:latin typeface="DejaVu Sans"/>
                <a:ea typeface="DejaVu Sans"/>
                <a:cs typeface="DejaVu Sans"/>
              </a:defRPr>
            </a:pPr>
            <a:r>
              <a:rPr sz="1350" b="0">
                <a:solidFill>
                  <a:srgbClr val="A9C0D0"/>
                </a:solidFill>
                <a:latin typeface="DejaVu Sans"/>
                <a:ea typeface="DejaVu Sans"/>
                <a:cs typeface="DejaVu Sans"/>
              </a:rPr>
              <a:t>13/10/2026</a:t>
            </a:r>
          </a:p>
        </p:txBody>
      </p:sp>
    </p:spTree>
    <p:extLst>
      <p:ext uri="{BB962C8B-B14F-4D97-AF65-F5344CB8AC3E}">
        <p14:creationId xmlns:p14="http://schemas.microsoft.com/office/powerpoint/2010/main" val="9431013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890ABA-1CF8-4869-A805-F5A71961BE1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FFAAB417-FF22-4F5B-9164-B1AC91A9316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Nguyên lý kiểm thử theo schema</a:t>
            </a:r>
          </a:p>
        </p:txBody>
      </p:sp>
      <p:sp>
        <p:nvSpPr>
          <p:cNvPr id="3" name="">
            <a:extLst xmlns:a="http://schemas.openxmlformats.org/drawingml/2006/main">
              <a:ext uri="{FF2B5EF4-FFF2-40B4-BE49-F238E27FC236}">
                <a16:creationId xmlns:a16="http://schemas.microsoft.com/office/drawing/2014/main" id="{8D84E036-DD23-4A16-89A3-22C89E9E6899}"/>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1B18A1BA-9272-4FBB-97A7-155FC7044AE6}"/>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EACBC687-B44D-4221-9209-B18FD2BFA501}"/>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02</a:t>
            </a:r>
          </a:p>
        </p:txBody>
      </p:sp>
      <p:sp>
        <p:nvSpPr>
          <p:cNvPr id="6" name="text-5">
            <a:extLst xmlns:a="http://schemas.openxmlformats.org/drawingml/2006/main">
              <a:ext uri="{FF2B5EF4-FFF2-40B4-BE49-F238E27FC236}">
                <a16:creationId xmlns:a16="http://schemas.microsoft.com/office/drawing/2014/main" id="{A83764C7-BD7C-449D-B575-1B675EF22A92}"/>
              </a:ext>
            </a:extLst>
          </p:cNvPr>
          <p:cNvSpPr>
            <a:spLocks xmlns:a="http://schemas.openxmlformats.org/drawingml/2006/main" noGrp="1"/>
          </p:cNvSpPr>
          <p:nvPr/>
        </p:nvSpPr>
        <p:spPr>
          <a:xfrm xmlns:a="http://schemas.openxmlformats.org/drawingml/2006/main">
            <a:off x="609600" y="1781175"/>
            <a:ext cx="72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007F78"/>
                </a:solidFill>
                <a:latin typeface="DejaVu Sans"/>
                <a:ea typeface="DejaVu Sans"/>
                <a:cs typeface="DejaVu Sans"/>
              </a:defRPr>
            </a:defPPr>
          </a:lstStyle>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01</a:t>
            </a:r>
          </a:p>
        </p:txBody>
      </p:sp>
      <p:sp>
        <p:nvSpPr>
          <p:cNvPr id="7" name="text-6">
            <a:extLst xmlns:a="http://schemas.openxmlformats.org/drawingml/2006/main">
              <a:ext uri="{FF2B5EF4-FFF2-40B4-BE49-F238E27FC236}">
                <a16:creationId xmlns:a16="http://schemas.microsoft.com/office/drawing/2014/main" id="{3ABE589D-D2FA-4A3B-A029-F6B634504FDB}"/>
              </a:ext>
            </a:extLst>
          </p:cNvPr>
          <p:cNvSpPr>
            <a:spLocks xmlns:a="http://schemas.openxmlformats.org/drawingml/2006/main" noGrp="1"/>
          </p:cNvSpPr>
          <p:nvPr/>
        </p:nvSpPr>
        <p:spPr>
          <a:xfrm xmlns:a="http://schemas.openxmlformats.org/drawingml/2006/main">
            <a:off x="1581150" y="1809750"/>
            <a:ext cx="3476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2A43"/>
                </a:solidFill>
                <a:latin typeface="DejaVu Sans"/>
                <a:ea typeface="DejaVu Sans"/>
                <a:cs typeface="DejaVu Sans"/>
              </a:defRPr>
            </a:defPPr>
          </a:lstStyle>
          <a:p xmlns:a="http://schemas.openxmlformats.org/drawingml/2006/main">
            <a:pPr>
              <a:defRPr sz="2100" b="1">
                <a:solidFill>
                  <a:srgbClr val="102A43"/>
                </a:solidFill>
                <a:latin typeface="DejaVu Sans"/>
                <a:ea typeface="DejaVu Sans"/>
                <a:cs typeface="DejaVu Sans"/>
              </a:defRPr>
            </a:pPr>
            <a:r>
              <a:rPr sz="2100" b="1">
                <a:solidFill>
                  <a:srgbClr val="102A43"/>
                </a:solidFill>
                <a:latin typeface="DejaVu Sans"/>
                <a:ea typeface="DejaVu Sans"/>
                <a:cs typeface="DejaVu Sans"/>
              </a:rPr>
              <a:t>Đọc OpenAPI</a:t>
            </a:r>
          </a:p>
        </p:txBody>
      </p:sp>
      <p:sp>
        <p:nvSpPr>
          <p:cNvPr id="8" name="text-7">
            <a:extLst xmlns:a="http://schemas.openxmlformats.org/drawingml/2006/main">
              <a:ext uri="{FF2B5EF4-FFF2-40B4-BE49-F238E27FC236}">
                <a16:creationId xmlns:a16="http://schemas.microsoft.com/office/drawing/2014/main" id="{C97D39A6-79BE-4973-8399-7FE05355BCF5}"/>
              </a:ext>
            </a:extLst>
          </p:cNvPr>
          <p:cNvSpPr>
            <a:spLocks xmlns:a="http://schemas.openxmlformats.org/drawingml/2006/main" noGrp="1"/>
          </p:cNvSpPr>
          <p:nvPr/>
        </p:nvSpPr>
        <p:spPr>
          <a:xfrm xmlns:a="http://schemas.openxmlformats.org/drawingml/2006/main">
            <a:off x="5334000" y="1819275"/>
            <a:ext cx="624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Path, method, tham số, kiểu và ràng buộc dữ liệu</a:t>
            </a:r>
          </a:p>
        </p:txBody>
      </p:sp>
      <p:sp>
        <p:nvSpPr>
          <p:cNvPr id="9" name="">
            <a:extLst xmlns:a="http://schemas.openxmlformats.org/drawingml/2006/main">
              <a:ext uri="{FF2B5EF4-FFF2-40B4-BE49-F238E27FC236}">
                <a16:creationId xmlns:a16="http://schemas.microsoft.com/office/drawing/2014/main" id="{5648264C-30B5-4472-A4BE-2FE58B2DC03E}"/>
              </a:ext>
            </a:extLst>
          </p:cNvPr>
          <p:cNvSpPr>
            <a:spLocks xmlns:a="http://schemas.openxmlformats.org/drawingml/2006/main" noGrp="1"/>
          </p:cNvSpPr>
          <p:nvPr/>
        </p:nvSpPr>
        <p:spPr>
          <a:xfrm xmlns:a="http://schemas.openxmlformats.org/drawingml/2006/main">
            <a:off x="1581150" y="2524125"/>
            <a:ext cx="10001250" cy="9525"/>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1AC0ABB7-75B4-44C7-B0BC-51BBA9EBFE61}"/>
              </a:ext>
            </a:extLst>
          </p:cNvPr>
          <p:cNvSpPr>
            <a:spLocks xmlns:a="http://schemas.openxmlformats.org/drawingml/2006/main" noGrp="1"/>
          </p:cNvSpPr>
          <p:nvPr/>
        </p:nvSpPr>
        <p:spPr>
          <a:xfrm xmlns:a="http://schemas.openxmlformats.org/drawingml/2006/main">
            <a:off x="609600" y="2667000"/>
            <a:ext cx="72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007F78"/>
                </a:solidFill>
                <a:latin typeface="DejaVu Sans"/>
                <a:ea typeface="DejaVu Sans"/>
                <a:cs typeface="DejaVu Sans"/>
              </a:defRPr>
            </a:defPPr>
          </a:lstStyle>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02</a:t>
            </a:r>
          </a:p>
        </p:txBody>
      </p:sp>
      <p:sp>
        <p:nvSpPr>
          <p:cNvPr id="11" name="text-10">
            <a:extLst xmlns:a="http://schemas.openxmlformats.org/drawingml/2006/main">
              <a:ext uri="{FF2B5EF4-FFF2-40B4-BE49-F238E27FC236}">
                <a16:creationId xmlns:a16="http://schemas.microsoft.com/office/drawing/2014/main" id="{67E80190-7AEE-41B3-9421-B758FEB953F7}"/>
              </a:ext>
            </a:extLst>
          </p:cNvPr>
          <p:cNvSpPr>
            <a:spLocks xmlns:a="http://schemas.openxmlformats.org/drawingml/2006/main" noGrp="1"/>
          </p:cNvSpPr>
          <p:nvPr/>
        </p:nvSpPr>
        <p:spPr>
          <a:xfrm xmlns:a="http://schemas.openxmlformats.org/drawingml/2006/main">
            <a:off x="1581150" y="2695575"/>
            <a:ext cx="3476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2A43"/>
                </a:solidFill>
                <a:latin typeface="DejaVu Sans"/>
                <a:ea typeface="DejaVu Sans"/>
                <a:cs typeface="DejaVu Sans"/>
              </a:defRPr>
            </a:defPPr>
          </a:lstStyle>
          <a:p xmlns:a="http://schemas.openxmlformats.org/drawingml/2006/main">
            <a:pPr>
              <a:defRPr sz="2100" b="1">
                <a:solidFill>
                  <a:srgbClr val="102A43"/>
                </a:solidFill>
                <a:latin typeface="DejaVu Sans"/>
                <a:ea typeface="DejaVu Sans"/>
                <a:cs typeface="DejaVu Sans"/>
              </a:defRPr>
            </a:pPr>
            <a:r>
              <a:rPr sz="2100" b="1">
                <a:solidFill>
                  <a:srgbClr val="102A43"/>
                </a:solidFill>
                <a:latin typeface="DejaVu Sans"/>
                <a:ea typeface="DejaVu Sans"/>
                <a:cs typeface="DejaVu Sans"/>
              </a:rPr>
              <a:t>Sinh input</a:t>
            </a:r>
          </a:p>
        </p:txBody>
      </p:sp>
      <p:sp>
        <p:nvSpPr>
          <p:cNvPr id="12" name="text-11">
            <a:extLst xmlns:a="http://schemas.openxmlformats.org/drawingml/2006/main">
              <a:ext uri="{FF2B5EF4-FFF2-40B4-BE49-F238E27FC236}">
                <a16:creationId xmlns:a16="http://schemas.microsoft.com/office/drawing/2014/main" id="{870A7555-AAB7-4E6D-907D-252B6F1CD4D5}"/>
              </a:ext>
            </a:extLst>
          </p:cNvPr>
          <p:cNvSpPr>
            <a:spLocks xmlns:a="http://schemas.openxmlformats.org/drawingml/2006/main" noGrp="1"/>
          </p:cNvSpPr>
          <p:nvPr/>
        </p:nvSpPr>
        <p:spPr>
          <a:xfrm xmlns:a="http://schemas.openxmlformats.org/drawingml/2006/main">
            <a:off x="5334000" y="2705100"/>
            <a:ext cx="624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Dữ liệu hợp lệ, không hợp lệ và giá trị biên</a:t>
            </a:r>
          </a:p>
        </p:txBody>
      </p:sp>
      <p:sp>
        <p:nvSpPr>
          <p:cNvPr id="13" name="">
            <a:extLst xmlns:a="http://schemas.openxmlformats.org/drawingml/2006/main">
              <a:ext uri="{FF2B5EF4-FFF2-40B4-BE49-F238E27FC236}">
                <a16:creationId xmlns:a16="http://schemas.microsoft.com/office/drawing/2014/main" id="{C14FEC4B-78D8-47FD-9A25-234658759B11}"/>
              </a:ext>
            </a:extLst>
          </p:cNvPr>
          <p:cNvSpPr>
            <a:spLocks xmlns:a="http://schemas.openxmlformats.org/drawingml/2006/main" noGrp="1"/>
          </p:cNvSpPr>
          <p:nvPr/>
        </p:nvSpPr>
        <p:spPr>
          <a:xfrm xmlns:a="http://schemas.openxmlformats.org/drawingml/2006/main">
            <a:off x="1581150" y="3409950"/>
            <a:ext cx="10001250" cy="9525"/>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14" name="text-13">
            <a:extLst xmlns:a="http://schemas.openxmlformats.org/drawingml/2006/main">
              <a:ext uri="{FF2B5EF4-FFF2-40B4-BE49-F238E27FC236}">
                <a16:creationId xmlns:a16="http://schemas.microsoft.com/office/drawing/2014/main" id="{8EA81B5B-A8D4-4D99-8997-FD45C4315EEE}"/>
              </a:ext>
            </a:extLst>
          </p:cNvPr>
          <p:cNvSpPr>
            <a:spLocks xmlns:a="http://schemas.openxmlformats.org/drawingml/2006/main" noGrp="1"/>
          </p:cNvSpPr>
          <p:nvPr/>
        </p:nvSpPr>
        <p:spPr>
          <a:xfrm xmlns:a="http://schemas.openxmlformats.org/drawingml/2006/main">
            <a:off x="609600" y="3552825"/>
            <a:ext cx="72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007F78"/>
                </a:solidFill>
                <a:latin typeface="DejaVu Sans"/>
                <a:ea typeface="DejaVu Sans"/>
                <a:cs typeface="DejaVu Sans"/>
              </a:defRPr>
            </a:defPPr>
          </a:lstStyle>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03</a:t>
            </a:r>
          </a:p>
        </p:txBody>
      </p:sp>
      <p:sp>
        <p:nvSpPr>
          <p:cNvPr id="15" name="text-14">
            <a:extLst xmlns:a="http://schemas.openxmlformats.org/drawingml/2006/main">
              <a:ext uri="{FF2B5EF4-FFF2-40B4-BE49-F238E27FC236}">
                <a16:creationId xmlns:a16="http://schemas.microsoft.com/office/drawing/2014/main" id="{2838D530-BA39-43FC-9AEB-91E789457E1B}"/>
              </a:ext>
            </a:extLst>
          </p:cNvPr>
          <p:cNvSpPr>
            <a:spLocks xmlns:a="http://schemas.openxmlformats.org/drawingml/2006/main" noGrp="1"/>
          </p:cNvSpPr>
          <p:nvPr/>
        </p:nvSpPr>
        <p:spPr>
          <a:xfrm xmlns:a="http://schemas.openxmlformats.org/drawingml/2006/main">
            <a:off x="1581150" y="3581400"/>
            <a:ext cx="3476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2A43"/>
                </a:solidFill>
                <a:latin typeface="DejaVu Sans"/>
                <a:ea typeface="DejaVu Sans"/>
                <a:cs typeface="DejaVu Sans"/>
              </a:defRPr>
            </a:defPPr>
          </a:lstStyle>
          <a:p xmlns:a="http://schemas.openxmlformats.org/drawingml/2006/main">
            <a:pPr>
              <a:defRPr sz="2100" b="1">
                <a:solidFill>
                  <a:srgbClr val="102A43"/>
                </a:solidFill>
                <a:latin typeface="DejaVu Sans"/>
                <a:ea typeface="DejaVu Sans"/>
                <a:cs typeface="DejaVu Sans"/>
              </a:defRPr>
            </a:pPr>
            <a:r>
              <a:rPr sz="2100" b="1">
                <a:solidFill>
                  <a:srgbClr val="102A43"/>
                </a:solidFill>
                <a:latin typeface="DejaVu Sans"/>
                <a:ea typeface="DejaVu Sans"/>
                <a:cs typeface="DejaVu Sans"/>
              </a:rPr>
              <a:t>Gọi API local</a:t>
            </a:r>
          </a:p>
        </p:txBody>
      </p:sp>
      <p:sp>
        <p:nvSpPr>
          <p:cNvPr id="16" name="text-15">
            <a:extLst xmlns:a="http://schemas.openxmlformats.org/drawingml/2006/main">
              <a:ext uri="{FF2B5EF4-FFF2-40B4-BE49-F238E27FC236}">
                <a16:creationId xmlns:a16="http://schemas.microsoft.com/office/drawing/2014/main" id="{80B5BF7F-E63B-4287-85B0-C6447A2265C6}"/>
              </a:ext>
            </a:extLst>
          </p:cNvPr>
          <p:cNvSpPr>
            <a:spLocks xmlns:a="http://schemas.openxmlformats.org/drawingml/2006/main" noGrp="1"/>
          </p:cNvSpPr>
          <p:nvPr/>
        </p:nvSpPr>
        <p:spPr>
          <a:xfrm xmlns:a="http://schemas.openxmlformats.org/drawingml/2006/main">
            <a:off x="5334000" y="3590925"/>
            <a:ext cx="624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Gửi request với cấu hình xác thực đã kiểm tra</a:t>
            </a:r>
          </a:p>
        </p:txBody>
      </p:sp>
      <p:sp>
        <p:nvSpPr>
          <p:cNvPr id="17" name="">
            <a:extLst xmlns:a="http://schemas.openxmlformats.org/drawingml/2006/main">
              <a:ext uri="{FF2B5EF4-FFF2-40B4-BE49-F238E27FC236}">
                <a16:creationId xmlns:a16="http://schemas.microsoft.com/office/drawing/2014/main" id="{F23068F2-43AE-44E4-80A8-FD7548564431}"/>
              </a:ext>
            </a:extLst>
          </p:cNvPr>
          <p:cNvSpPr>
            <a:spLocks xmlns:a="http://schemas.openxmlformats.org/drawingml/2006/main" noGrp="1"/>
          </p:cNvSpPr>
          <p:nvPr/>
        </p:nvSpPr>
        <p:spPr>
          <a:xfrm xmlns:a="http://schemas.openxmlformats.org/drawingml/2006/main">
            <a:off x="1581150" y="4295775"/>
            <a:ext cx="10001250" cy="9525"/>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18" name="text-17">
            <a:extLst xmlns:a="http://schemas.openxmlformats.org/drawingml/2006/main">
              <a:ext uri="{FF2B5EF4-FFF2-40B4-BE49-F238E27FC236}">
                <a16:creationId xmlns:a16="http://schemas.microsoft.com/office/drawing/2014/main" id="{562F1F24-9134-4E26-84FE-B0CBC5351551}"/>
              </a:ext>
            </a:extLst>
          </p:cNvPr>
          <p:cNvSpPr>
            <a:spLocks xmlns:a="http://schemas.openxmlformats.org/drawingml/2006/main" noGrp="1"/>
          </p:cNvSpPr>
          <p:nvPr/>
        </p:nvSpPr>
        <p:spPr>
          <a:xfrm xmlns:a="http://schemas.openxmlformats.org/drawingml/2006/main">
            <a:off x="609600" y="4438650"/>
            <a:ext cx="72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007F78"/>
                </a:solidFill>
                <a:latin typeface="DejaVu Sans"/>
                <a:ea typeface="DejaVu Sans"/>
                <a:cs typeface="DejaVu Sans"/>
              </a:defRPr>
            </a:defPPr>
          </a:lstStyle>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04</a:t>
            </a:r>
          </a:p>
        </p:txBody>
      </p:sp>
      <p:sp>
        <p:nvSpPr>
          <p:cNvPr id="19" name="text-18">
            <a:extLst xmlns:a="http://schemas.openxmlformats.org/drawingml/2006/main">
              <a:ext uri="{FF2B5EF4-FFF2-40B4-BE49-F238E27FC236}">
                <a16:creationId xmlns:a16="http://schemas.microsoft.com/office/drawing/2014/main" id="{2F9D58EB-CD70-400E-AF32-21789349A3A6}"/>
              </a:ext>
            </a:extLst>
          </p:cNvPr>
          <p:cNvSpPr>
            <a:spLocks xmlns:a="http://schemas.openxmlformats.org/drawingml/2006/main" noGrp="1"/>
          </p:cNvSpPr>
          <p:nvPr/>
        </p:nvSpPr>
        <p:spPr>
          <a:xfrm xmlns:a="http://schemas.openxmlformats.org/drawingml/2006/main">
            <a:off x="1581150" y="4467225"/>
            <a:ext cx="3476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02A43"/>
                </a:solidFill>
                <a:latin typeface="DejaVu Sans"/>
                <a:ea typeface="DejaVu Sans"/>
                <a:cs typeface="DejaVu Sans"/>
              </a:defRPr>
            </a:defPPr>
          </a:lstStyle>
          <a:p xmlns:a="http://schemas.openxmlformats.org/drawingml/2006/main">
            <a:pPr>
              <a:defRPr sz="2100" b="1">
                <a:solidFill>
                  <a:srgbClr val="102A43"/>
                </a:solidFill>
                <a:latin typeface="DejaVu Sans"/>
                <a:ea typeface="DejaVu Sans"/>
                <a:cs typeface="DejaVu Sans"/>
              </a:defRPr>
            </a:pPr>
            <a:r>
              <a:rPr sz="2100" b="1">
                <a:solidFill>
                  <a:srgbClr val="102A43"/>
                </a:solidFill>
                <a:latin typeface="DejaVu Sans"/>
                <a:ea typeface="DejaVu Sans"/>
                <a:cs typeface="DejaVu Sans"/>
              </a:rPr>
              <a:t>Đối chiếu response</a:t>
            </a:r>
          </a:p>
        </p:txBody>
      </p:sp>
      <p:sp>
        <p:nvSpPr>
          <p:cNvPr id="20" name="text-19">
            <a:extLst xmlns:a="http://schemas.openxmlformats.org/drawingml/2006/main">
              <a:ext uri="{FF2B5EF4-FFF2-40B4-BE49-F238E27FC236}">
                <a16:creationId xmlns:a16="http://schemas.microsoft.com/office/drawing/2014/main" id="{E22A083B-5BB7-4381-8817-5FF0DA9666A5}"/>
              </a:ext>
            </a:extLst>
          </p:cNvPr>
          <p:cNvSpPr>
            <a:spLocks xmlns:a="http://schemas.openxmlformats.org/drawingml/2006/main" noGrp="1"/>
          </p:cNvSpPr>
          <p:nvPr/>
        </p:nvSpPr>
        <p:spPr>
          <a:xfrm xmlns:a="http://schemas.openxmlformats.org/drawingml/2006/main">
            <a:off x="5334000" y="4476750"/>
            <a:ext cx="6248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Kiểm tra hợp đồng; lưu và thu nhỏ input gây lỗi</a:t>
            </a:r>
          </a:p>
        </p:txBody>
      </p:sp>
      <p:sp>
        <p:nvSpPr>
          <p:cNvPr id="21" name="text-20">
            <a:extLst xmlns:a="http://schemas.openxmlformats.org/drawingml/2006/main">
              <a:ext uri="{FF2B5EF4-FFF2-40B4-BE49-F238E27FC236}">
                <a16:creationId xmlns:a16="http://schemas.microsoft.com/office/drawing/2014/main" id="{06FA281C-4DA3-45D3-9755-2F21962575EE}"/>
              </a:ext>
            </a:extLst>
          </p:cNvPr>
          <p:cNvSpPr>
            <a:spLocks xmlns:a="http://schemas.openxmlformats.org/drawingml/2006/main" noGrp="1"/>
          </p:cNvSpPr>
          <p:nvPr/>
        </p:nvSpPr>
        <p:spPr>
          <a:xfrm xmlns:a="http://schemas.openxmlformats.org/drawingml/2006/main">
            <a:off x="609600" y="56007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007F78"/>
                </a:solidFill>
                <a:latin typeface="DejaVu Sans"/>
                <a:ea typeface="DejaVu Sans"/>
                <a:cs typeface="DejaVu Sans"/>
              </a:defRPr>
            </a:defPPr>
          </a:lstStyle>
          <a:p xmlns:a="http://schemas.openxmlformats.org/drawingml/2006/main">
            <a:pPr>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Schema là chuẩn đối chiếu API; test nghiệp vụ bổ sung kiểm tra ý nghĩa của dữ liệu.</a:t>
            </a:r>
          </a:p>
        </p:txBody>
      </p:sp>
    </p:spTree>
    <p:extLst>
      <p:ext uri="{BB962C8B-B14F-4D97-AF65-F5344CB8AC3E}">
        <p14:creationId xmlns:p14="http://schemas.microsoft.com/office/powerpoint/2010/main" val="5571725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FC4E24-522C-4A6D-842F-C5F1AB19658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DA283C9F-0223-4609-8ECF-633D1C001A5F}"/>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Phạm vi kiểm thử</a:t>
            </a:r>
          </a:p>
        </p:txBody>
      </p:sp>
      <p:sp>
        <p:nvSpPr>
          <p:cNvPr id="3" name="">
            <a:extLst xmlns:a="http://schemas.openxmlformats.org/drawingml/2006/main">
              <a:ext uri="{FF2B5EF4-FFF2-40B4-BE49-F238E27FC236}">
                <a16:creationId xmlns:a16="http://schemas.microsoft.com/office/drawing/2014/main" id="{2810C81C-C71D-426B-ADF8-458FB52A4FC5}"/>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6E17EBA1-E837-4243-9994-393297A055CE}"/>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2DB3FAED-879F-476E-A5EE-6A5E20ABA8E5}"/>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03</a:t>
            </a:r>
          </a:p>
        </p:txBody>
      </p:sp>
      <p:graphicFrame>
        <p:nvGraphicFramePr>
          <p:cNvPr id="6" name="">
            <a:extLst xmlns:a="http://schemas.openxmlformats.org/drawingml/2006/main">
              <a:ext uri="{FF2B5EF4-FFF2-40B4-BE49-F238E27FC236}">
                <a16:creationId xmlns:a16="http://schemas.microsoft.com/office/drawing/2014/main" id="{56C8DBAA-CC4A-4396-8E57-A9D73DAC19BC}"/>
              </a:ext>
            </a:extLst>
          </p:cNvPr>
          <p:cNvGraphicFramePr/>
          <p:nvPr/>
        </p:nvGraphicFramePr>
        <p:xfrm>
          <a:off xmlns:a="http://schemas.openxmlformats.org/drawingml/2006/main" x="609600" y="1762125"/>
          <a:ext xmlns:a="http://schemas.openxmlformats.org/drawingml/2006/main" cx="10972800" cy="3143250"/>
        </p:xfrm>
        <a:graphic xmlns:a="http://schemas.openxmlformats.org/drawingml/2006/main">
          <a:graphicData uri="http://schemas.openxmlformats.org/drawingml/2006/table">
            <a:tbl>
              <a:tblPr/>
              <a:tblGrid>
                <a:gridCol w="3790950"/>
                <a:gridCol w="4381500"/>
                <a:gridCol w="2800350"/>
              </a:tblGrid>
              <a:tr h="628650">
                <a:tc>
                  <a:txBody>
                    <a:bodyPr/>
                    <a:lstStyle/>
                    <a:p>
                      <a:r>
                        <a:rPr sz="1650" b="1">
                          <a:solidFill>
                            <a:srgbClr val="FFFFFF"/>
                          </a:solidFill>
                          <a:latin typeface="DejaVu Sans"/>
                          <a:ea typeface="DejaVu Sans"/>
                          <a:cs typeface="DejaVu Sans"/>
                        </a:rPr>
                        <a:t>Nhóm endpoint</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650" b="1">
                          <a:solidFill>
                            <a:srgbClr val="FFFFFF"/>
                          </a:solidFill>
                          <a:latin typeface="DejaVu Sans"/>
                          <a:ea typeface="DejaVu Sans"/>
                          <a:cs typeface="DejaVu Sans"/>
                        </a:rPr>
                        <a:t>Nội dung chính</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650" b="1">
                          <a:solidFill>
                            <a:srgbClr val="FFFFFF"/>
                          </a:solidFill>
                          <a:latin typeface="DejaVu Sans"/>
                          <a:ea typeface="DejaVu Sans"/>
                          <a:cs typeface="DejaVu Sans"/>
                        </a:rPr>
                        <a:t>Vòng</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28650">
                <a:tc>
                  <a:txBody>
                    <a:bodyPr/>
                    <a:lstStyle/>
                    <a:p>
                      <a:r>
                        <a:rPr sz="1650" b="0">
                          <a:solidFill>
                            <a:srgbClr val="213547"/>
                          </a:solidFill>
                          <a:latin typeface="DejaVu Sans"/>
                          <a:ea typeface="DejaVu Sans"/>
                          <a:cs typeface="DejaVu Sans"/>
                        </a:rPr>
                        <a:t>/api/tags/</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Nhãn và các thao tác CRUD</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1, 2, 3</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28650">
                <a:tc>
                  <a:txBody>
                    <a:bodyPr/>
                    <a:lstStyle/>
                    <a:p>
                      <a:r>
                        <a:rPr sz="1650" b="0">
                          <a:solidFill>
                            <a:srgbClr val="213547"/>
                          </a:solidFill>
                          <a:latin typeface="DejaVu Sans"/>
                          <a:ea typeface="DejaVu Sans"/>
                          <a:cs typeface="DejaVu Sans"/>
                        </a:rPr>
                        <a:t>/api/correspondents/</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Đơn vị liên hệ, validation</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1, 2, 3</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28650">
                <a:tc>
                  <a:txBody>
                    <a:bodyPr/>
                    <a:lstStyle/>
                    <a:p>
                      <a:r>
                        <a:rPr sz="1650" b="0">
                          <a:solidFill>
                            <a:srgbClr val="213547"/>
                          </a:solidFill>
                          <a:latin typeface="DejaVu Sans"/>
                          <a:ea typeface="DejaVu Sans"/>
                          <a:cs typeface="DejaVu Sans"/>
                        </a:rPr>
                        <a:t>/api/document_types/</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Phân loại tài liệu, validation</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1, 2, 3</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28650">
                <a:tc>
                  <a:txBody>
                    <a:bodyPr/>
                    <a:lstStyle/>
                    <a:p>
                      <a:r>
                        <a:rPr sz="1650" b="0">
                          <a:solidFill>
                            <a:srgbClr val="213547"/>
                          </a:solidFill>
                          <a:latin typeface="DejaVu Sans"/>
                          <a:ea typeface="DejaVu Sans"/>
                          <a:cs typeface="DejaVu Sans"/>
                        </a:rPr>
                        <a:t>/api/documents/</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Tài liệu, truy vấn và lọc</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1: GET · 3: mở rộng</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E96D72D1-75F6-4D87-8117-AF438A03C7D8}"/>
              </a:ext>
            </a:extLst>
          </p:cNvPr>
          <p:cNvSpPr>
            <a:spLocks xmlns:a="http://schemas.openxmlformats.org/drawingml/2006/main" noGrp="1"/>
          </p:cNvSpPr>
          <p:nvPr/>
        </p:nvSpPr>
        <p:spPr>
          <a:xfrm xmlns:a="http://schemas.openxmlformats.org/drawingml/2006/main">
            <a:off x="609600" y="5210175"/>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007F78"/>
                </a:solidFill>
                <a:latin typeface="DejaVu Sans"/>
                <a:ea typeface="DejaVu Sans"/>
                <a:cs typeface="DejaVu Sans"/>
              </a:defRPr>
            </a:defPPr>
          </a:lstStyle>
          <a:p xmlns:a="http://schemas.openxmlformats.org/drawingml/2006/main">
            <a:pPr>
              <a:defRPr sz="2025" b="1">
                <a:solidFill>
                  <a:srgbClr val="007F78"/>
                </a:solidFill>
                <a:latin typeface="DejaVu Sans"/>
                <a:ea typeface="DejaVu Sans"/>
                <a:cs typeface="DejaVu Sans"/>
              </a:defRPr>
            </a:pPr>
            <a:r>
              <a:rPr sz="2025" b="1">
                <a:solidFill>
                  <a:srgbClr val="007F78"/>
                </a:solidFill>
                <a:latin typeface="DejaVu Sans"/>
                <a:ea typeface="DejaVu Sans"/>
                <a:cs typeface="DejaVu Sans"/>
              </a:rPr>
              <a:t>Chỉ kiểm thử instance local: http://localhost:8000</a:t>
            </a:r>
          </a:p>
        </p:txBody>
      </p:sp>
      <p:sp>
        <p:nvSpPr>
          <p:cNvPr id="8" name="text-6">
            <a:extLst xmlns:a="http://schemas.openxmlformats.org/drawingml/2006/main">
              <a:ext uri="{FF2B5EF4-FFF2-40B4-BE49-F238E27FC236}">
                <a16:creationId xmlns:a16="http://schemas.microsoft.com/office/drawing/2014/main" id="{FFA87A51-2E66-44C2-B5B6-FFC1C95C6249}"/>
              </a:ext>
            </a:extLst>
          </p:cNvPr>
          <p:cNvSpPr>
            <a:spLocks xmlns:a="http://schemas.openxmlformats.org/drawingml/2006/main" noGrp="1"/>
          </p:cNvSpPr>
          <p:nvPr/>
        </p:nvSpPr>
        <p:spPr>
          <a:xfrm xmlns:a="http://schemas.openxmlformats.org/drawingml/2006/main">
            <a:off x="609600" y="5724525"/>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213547"/>
                </a:solidFill>
                <a:latin typeface="DejaVu Sans"/>
                <a:ea typeface="DejaVu Sans"/>
                <a:cs typeface="DejaVu Sans"/>
              </a:defRPr>
            </a:defPPr>
          </a:lstStyle>
          <a:p xmlns:a="http://schemas.openxmlformats.org/drawingml/2006/main">
            <a:pPr>
              <a:defRPr sz="1650" b="0">
                <a:solidFill>
                  <a:srgbClr val="213547"/>
                </a:solidFill>
                <a:latin typeface="DejaVu Sans"/>
                <a:ea typeface="DejaVu Sans"/>
                <a:cs typeface="DejaVu Sans"/>
              </a:defRPr>
            </a:pPr>
            <a:r>
              <a:rPr sz="1650" b="0">
                <a:solidFill>
                  <a:srgbClr val="213547"/>
                </a:solidFill>
                <a:latin typeface="DejaVu Sans"/>
                <a:ea typeface="DejaVu Sans"/>
                <a:cs typeface="DejaVu Sans"/>
              </a:rPr>
              <a:t>Loại khỏi fuzz: users, groups, token, profile, config, ui_settings, mail_*, remote_version.</a:t>
            </a:r>
          </a:p>
        </p:txBody>
      </p:sp>
    </p:spTree>
    <p:extLst>
      <p:ext uri="{BB962C8B-B14F-4D97-AF65-F5344CB8AC3E}">
        <p14:creationId xmlns:p14="http://schemas.microsoft.com/office/powerpoint/2010/main" val="7484760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1D4628-B663-4560-B977-97DB5E1CE51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5ACDD123-BD6D-4893-BAFC-2B4EDA96D1B9}"/>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Ba vòng kiểm thử của TV3</a:t>
            </a:r>
          </a:p>
        </p:txBody>
      </p:sp>
      <p:sp>
        <p:nvSpPr>
          <p:cNvPr id="3" name="">
            <a:extLst xmlns:a="http://schemas.openxmlformats.org/drawingml/2006/main">
              <a:ext uri="{FF2B5EF4-FFF2-40B4-BE49-F238E27FC236}">
                <a16:creationId xmlns:a16="http://schemas.microsoft.com/office/drawing/2014/main" id="{38254F41-6414-4AA3-8C0D-FF99D95BF041}"/>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9C2238EA-A6D5-4B71-9204-5DF49A6C90BB}"/>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560818EC-2DAB-41B1-87B7-5B76A1FF2556}"/>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04</a:t>
            </a:r>
          </a:p>
        </p:txBody>
      </p:sp>
      <p:graphicFrame>
        <p:nvGraphicFramePr>
          <p:cNvPr id="6" name="">
            <a:extLst xmlns:a="http://schemas.openxmlformats.org/drawingml/2006/main">
              <a:ext uri="{FF2B5EF4-FFF2-40B4-BE49-F238E27FC236}">
                <a16:creationId xmlns:a16="http://schemas.microsoft.com/office/drawing/2014/main" id="{7E9C8A47-9FA6-476E-A604-081C397B4695}"/>
              </a:ext>
            </a:extLst>
          </p:cNvPr>
          <p:cNvGraphicFramePr/>
          <p:nvPr/>
        </p:nvGraphicFramePr>
        <p:xfrm>
          <a:off xmlns:a="http://schemas.openxmlformats.org/drawingml/2006/main" x="609600" y="1762125"/>
          <a:ext xmlns:a="http://schemas.openxmlformats.org/drawingml/2006/main" cx="10972800" cy="3000375"/>
        </p:xfrm>
        <a:graphic xmlns:a="http://schemas.openxmlformats.org/drawingml/2006/main">
          <a:graphicData uri="http://schemas.openxmlformats.org/drawingml/2006/table">
            <a:tbl>
              <a:tblPr/>
              <a:tblGrid>
                <a:gridCol w="1809750"/>
                <a:gridCol w="5000625"/>
                <a:gridCol w="4162425"/>
              </a:tblGrid>
              <a:tr h="750094">
                <a:tc>
                  <a:txBody>
                    <a:bodyPr/>
                    <a:lstStyle/>
                    <a:p>
                      <a:r>
                        <a:rPr sz="1725" b="1">
                          <a:solidFill>
                            <a:srgbClr val="FFFFFF"/>
                          </a:solidFill>
                          <a:latin typeface="DejaVu Sans"/>
                          <a:ea typeface="DejaVu Sans"/>
                          <a:cs typeface="DejaVu Sans"/>
                        </a:rPr>
                        <a:t>Vòng</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725" b="1">
                          <a:solidFill>
                            <a:srgbClr val="FFFFFF"/>
                          </a:solidFill>
                          <a:latin typeface="DejaVu Sans"/>
                          <a:ea typeface="DejaVu Sans"/>
                          <a:cs typeface="DejaVu Sans"/>
                        </a:rPr>
                        <a:t>Phạm vi</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725" b="1">
                          <a:solidFill>
                            <a:srgbClr val="FFFFFF"/>
                          </a:solidFill>
                          <a:latin typeface="DejaVu Sans"/>
                          <a:ea typeface="DejaVu Sans"/>
                          <a:cs typeface="DejaVu Sans"/>
                        </a:rPr>
                        <a:t>Cấu hình</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750094">
                <a:tc>
                  <a:txBody>
                    <a:bodyPr/>
                    <a:lstStyle/>
                    <a:p>
                      <a:r>
                        <a:rPr sz="1725" b="0">
                          <a:solidFill>
                            <a:srgbClr val="213547"/>
                          </a:solidFill>
                          <a:latin typeface="DejaVu Sans"/>
                          <a:ea typeface="DejaVu Sans"/>
                          <a:cs typeface="DejaVu Sans"/>
                        </a:rPr>
                        <a:t>1 · Đọc</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GET trên cả 4 nhóm</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examples + fuzzing</a:t>
                      </a:r>
                    </a:p>
                    <a:p>
                      <a:r>
                        <a:rPr sz="1725" b="0">
                          <a:solidFill>
                            <a:srgbClr val="213547"/>
                          </a:solidFill>
                          <a:latin typeface="DejaVu Sans"/>
                          <a:ea typeface="DejaVu Sans"/>
                          <a:cs typeface="DejaVu Sans"/>
                        </a:rPr>
                        <a:t>5 checks response</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750094">
                <a:tc>
                  <a:txBody>
                    <a:bodyPr/>
                    <a:lstStyle/>
                    <a:p>
                      <a:r>
                        <a:rPr sz="1725" b="0">
                          <a:solidFill>
                            <a:srgbClr val="213547"/>
                          </a:solidFill>
                          <a:latin typeface="DejaVu Sans"/>
                          <a:ea typeface="DejaVu Sans"/>
                          <a:cs typeface="DejaVu Sans"/>
                        </a:rPr>
                        <a:t>2 · Ghi danh mục</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tags, correspondents,</a:t>
                      </a:r>
                    </a:p>
                    <a:p>
                      <a:r>
                        <a:rPr sz="1725" b="0">
                          <a:solidFill>
                            <a:srgbClr val="213547"/>
                          </a:solidFill>
                          <a:latin typeface="DejaVu Sans"/>
                          <a:ea typeface="DejaVu Sans"/>
                          <a:cs typeface="DejaVu Sans"/>
                        </a:rPr>
                        <a:t>document_types</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checks all</a:t>
                      </a:r>
                    </a:p>
                    <a:p>
                      <a:r>
                        <a:rPr sz="1725" b="0">
                          <a:solidFill>
                            <a:srgbClr val="213547"/>
                          </a:solidFill>
                          <a:latin typeface="DejaVu Sans"/>
                          <a:ea typeface="DejaVu Sans"/>
                          <a:cs typeface="DejaVu Sans"/>
                        </a:rPr>
                        <a:t>phases mặc định 4.30.1</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750094">
                <a:tc>
                  <a:txBody>
                    <a:bodyPr/>
                    <a:lstStyle/>
                    <a:p>
                      <a:r>
                        <a:rPr sz="1725" b="0">
                          <a:solidFill>
                            <a:srgbClr val="213547"/>
                          </a:solidFill>
                          <a:latin typeface="DejaVu Sans"/>
                          <a:ea typeface="DejaVu Sans"/>
                          <a:cs typeface="DejaVu Sans"/>
                        </a:rPr>
                        <a:t>3 · Mở rộng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Thêm documents</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checks all</a:t>
                      </a:r>
                    </a:p>
                    <a:p>
                      <a:r>
                        <a:rPr sz="1725" b="0">
                          <a:solidFill>
                            <a:srgbClr val="213547"/>
                          </a:solidFill>
                          <a:latin typeface="DejaVu Sans"/>
                          <a:ea typeface="DejaVu Sans"/>
                          <a:cs typeface="DejaVu Sans"/>
                        </a:rPr>
                        <a:t>phases mặc định 4.30.1</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bl>
          </a:graphicData>
        </a:graphic>
      </p:graphicFrame>
      <p:sp>
        <p:nvSpPr>
          <p:cNvPr id="7" name="text-5">
            <a:extLst xmlns:a="http://schemas.openxmlformats.org/drawingml/2006/main">
              <a:ext uri="{FF2B5EF4-FFF2-40B4-BE49-F238E27FC236}">
                <a16:creationId xmlns:a16="http://schemas.microsoft.com/office/drawing/2014/main" id="{D5F0A539-5617-44F9-9A8D-3D58AC54061E}"/>
              </a:ext>
            </a:extLst>
          </p:cNvPr>
          <p:cNvSpPr>
            <a:spLocks xmlns:a="http://schemas.openxmlformats.org/drawingml/2006/main" noGrp="1"/>
          </p:cNvSpPr>
          <p:nvPr/>
        </p:nvSpPr>
        <p:spPr>
          <a:xfrm xmlns:a="http://schemas.openxmlformats.org/drawingml/2006/main">
            <a:off x="609600" y="5095875"/>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007F78"/>
                </a:solidFill>
                <a:latin typeface="DejaVu Sans"/>
                <a:ea typeface="DejaVu Sans"/>
                <a:cs typeface="DejaVu Sans"/>
              </a:defRPr>
            </a:defPPr>
          </a:lstStyle>
          <a:p xmlns:a="http://schemas.openxmlformats.org/drawingml/2006/main">
            <a:pPr>
              <a:defRPr sz="2100" b="1">
                <a:solidFill>
                  <a:srgbClr val="007F78"/>
                </a:solidFill>
                <a:latin typeface="DejaVu Sans"/>
                <a:ea typeface="DejaVu Sans"/>
                <a:cs typeface="DejaVu Sans"/>
              </a:defRPr>
            </a:pPr>
            <a:r>
              <a:rPr sz="2100" b="1">
                <a:solidFill>
                  <a:srgbClr val="007F78"/>
                </a:solidFill>
                <a:latin typeface="DejaVu Sans"/>
                <a:ea typeface="DejaVu Sans"/>
                <a:cs typeface="DejaVu Sans"/>
              </a:rPr>
              <a:t>Seed 303  ·  max-examples 25  ·  workers 1</a:t>
            </a:r>
          </a:p>
        </p:txBody>
      </p:sp>
      <p:sp>
        <p:nvSpPr>
          <p:cNvPr id="8" name="text-6">
            <a:extLst xmlns:a="http://schemas.openxmlformats.org/drawingml/2006/main">
              <a:ext uri="{FF2B5EF4-FFF2-40B4-BE49-F238E27FC236}">
                <a16:creationId xmlns:a16="http://schemas.microsoft.com/office/drawing/2014/main" id="{C1CB161F-912A-4DAD-9143-4842F9421C6E}"/>
              </a:ext>
            </a:extLst>
          </p:cNvPr>
          <p:cNvSpPr>
            <a:spLocks xmlns:a="http://schemas.openxmlformats.org/drawingml/2006/main" noGrp="1"/>
          </p:cNvSpPr>
          <p:nvPr/>
        </p:nvSpPr>
        <p:spPr>
          <a:xfrm xmlns:a="http://schemas.openxmlformats.org/drawingml/2006/main">
            <a:off x="609600" y="56483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Reset và seed lại trước vòng 2–3; lưu log, XML, NDJSON mang tên TV3_*.</a:t>
            </a:r>
          </a:p>
        </p:txBody>
      </p:sp>
    </p:spTree>
    <p:extLst>
      <p:ext uri="{BB962C8B-B14F-4D97-AF65-F5344CB8AC3E}">
        <p14:creationId xmlns:p14="http://schemas.microsoft.com/office/powerpoint/2010/main" val="5110249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645D59-373F-4FD4-A44E-937E3E30937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AEECB08C-8A51-482A-B407-6CDDA9F97009}"/>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Tiêu chí Pass, Fail và bị chặn</a:t>
            </a:r>
          </a:p>
        </p:txBody>
      </p:sp>
      <p:sp>
        <p:nvSpPr>
          <p:cNvPr id="3" name="">
            <a:extLst xmlns:a="http://schemas.openxmlformats.org/drawingml/2006/main">
              <a:ext uri="{FF2B5EF4-FFF2-40B4-BE49-F238E27FC236}">
                <a16:creationId xmlns:a16="http://schemas.microsoft.com/office/drawing/2014/main" id="{92F86CE7-EE7A-4887-BF4A-87623C3379C9}"/>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502D7569-57B5-42AA-A274-A69D13816598}"/>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F5CB69F8-A049-4AB1-8A33-D754BE30D326}"/>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05</a:t>
            </a:r>
          </a:p>
        </p:txBody>
      </p:sp>
      <p:graphicFrame>
        <p:nvGraphicFramePr>
          <p:cNvPr id="6" name="">
            <a:extLst xmlns:a="http://schemas.openxmlformats.org/drawingml/2006/main">
              <a:ext uri="{FF2B5EF4-FFF2-40B4-BE49-F238E27FC236}">
                <a16:creationId xmlns:a16="http://schemas.microsoft.com/office/drawing/2014/main" id="{B65F500C-B3E5-480A-9188-8695E0741DE5}"/>
              </a:ext>
            </a:extLst>
          </p:cNvPr>
          <p:cNvGraphicFramePr/>
          <p:nvPr/>
        </p:nvGraphicFramePr>
        <p:xfrm>
          <a:off xmlns:a="http://schemas.openxmlformats.org/drawingml/2006/main" x="609600" y="1762125"/>
          <a:ext xmlns:a="http://schemas.openxmlformats.org/drawingml/2006/main" cx="10972800" cy="3429000"/>
        </p:xfrm>
        <a:graphic xmlns:a="http://schemas.openxmlformats.org/drawingml/2006/main">
          <a:graphicData uri="http://schemas.openxmlformats.org/drawingml/2006/table">
            <a:tbl>
              <a:tblPr/>
              <a:tblGrid>
                <a:gridCol w="5191125"/>
                <a:gridCol w="5781675"/>
              </a:tblGrid>
              <a:tr h="685800">
                <a:tc>
                  <a:txBody>
                    <a:bodyPr/>
                    <a:lstStyle/>
                    <a:p>
                      <a:r>
                        <a:rPr sz="1725" b="1">
                          <a:solidFill>
                            <a:srgbClr val="FFFFFF"/>
                          </a:solidFill>
                          <a:latin typeface="DejaVu Sans"/>
                          <a:ea typeface="DejaVu Sans"/>
                          <a:cs typeface="DejaVu Sans"/>
                        </a:rPr>
                        <a:t>Tình huống</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725" b="1">
                          <a:solidFill>
                            <a:srgbClr val="FFFFFF"/>
                          </a:solidFill>
                          <a:latin typeface="DejaVu Sans"/>
                          <a:ea typeface="DejaVu Sans"/>
                          <a:cs typeface="DejaVu Sans"/>
                        </a:rPr>
                        <a:t>Đánh giá</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85800">
                <a:tc>
                  <a:txBody>
                    <a:bodyPr/>
                    <a:lstStyle/>
                    <a:p>
                      <a:r>
                        <a:rPr sz="1725" b="0">
                          <a:solidFill>
                            <a:srgbClr val="213547"/>
                          </a:solidFill>
                          <a:latin typeface="DejaVu Sans"/>
                          <a:ea typeface="DejaVu Sans"/>
                          <a:cs typeface="DejaVu Sans"/>
                        </a:rPr>
                        <a:t>Input sai bị từ chối đúng 400</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Có thể PASS validation; kiểm tra thêm hợp đồng</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85800">
                <a:tc>
                  <a:txBody>
                    <a:bodyPr/>
                    <a:lstStyle/>
                    <a:p>
                      <a:r>
                        <a:rPr sz="1725" b="0">
                          <a:solidFill>
                            <a:srgbClr val="213547"/>
                          </a:solidFill>
                          <a:latin typeface="DejaVu Sans"/>
                          <a:ea typeface="DejaVu Sans"/>
                          <a:cs typeface="DejaVu Sans"/>
                        </a:rPr>
                        <a:t>HTTP 201 nhưng thiếu trường required</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FAIL kiểm tra schema dù tạo mới thành công</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85800">
                <a:tc>
                  <a:txBody>
                    <a:bodyPr/>
                    <a:lstStyle/>
                    <a:p>
                      <a:r>
                        <a:rPr sz="1725" b="0">
                          <a:solidFill>
                            <a:srgbClr val="213547"/>
                          </a:solidFill>
                          <a:latin typeface="DejaVu Sans"/>
                          <a:ea typeface="DejaVu Sans"/>
                          <a:cs typeface="DejaVu Sans"/>
                        </a:rPr>
                        <a:t>HTTP 5xx với request kiểm thử</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Failure cần tái hiện và phân loại</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85800">
                <a:tc>
                  <a:txBody>
                    <a:bodyPr/>
                    <a:lstStyle/>
                    <a:p>
                      <a:r>
                        <a:rPr sz="1725" b="0">
                          <a:solidFill>
                            <a:srgbClr val="213547"/>
                          </a:solidFill>
                          <a:latin typeface="DejaVu Sans"/>
                          <a:ea typeface="DejaVu Sans"/>
                          <a:cs typeface="DejaVu Sans"/>
                        </a:rPr>
                        <a:t>Docker/token/schema chưa sẵn sàng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ERROR hoặc BLOCKED; chưa kết luận lỗi phần mềm</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CBC8DA48-C084-493C-B246-EE771F75925B}"/>
              </a:ext>
            </a:extLst>
          </p:cNvPr>
          <p:cNvSpPr>
            <a:spLocks xmlns:a="http://schemas.openxmlformats.org/drawingml/2006/main" noGrp="1"/>
          </p:cNvSpPr>
          <p:nvPr/>
        </p:nvSpPr>
        <p:spPr>
          <a:xfrm xmlns:a="http://schemas.openxmlformats.org/drawingml/2006/main">
            <a:off x="609600" y="55245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07F78"/>
                </a:solidFill>
                <a:latin typeface="DejaVu Sans"/>
                <a:ea typeface="DejaVu Sans"/>
                <a:cs typeface="DejaVu Sans"/>
              </a:defRPr>
            </a:defPPr>
          </a:lstStyle>
          <a:p xmlns:a="http://schemas.openxmlformats.org/drawingml/2006/main">
            <a:pPr>
              <a:defRPr sz="1875" b="1">
                <a:solidFill>
                  <a:srgbClr val="007F78"/>
                </a:solidFill>
                <a:latin typeface="DejaVu Sans"/>
                <a:ea typeface="DejaVu Sans"/>
                <a:cs typeface="DejaVu Sans"/>
              </a:defRPr>
            </a:pPr>
            <a:r>
              <a:rPr sz="1875" b="1">
                <a:solidFill>
                  <a:srgbClr val="007F78"/>
                </a:solidFill>
                <a:latin typeface="DejaVu Sans"/>
                <a:ea typeface="DejaVu Sans"/>
                <a:cs typeface="DejaVu Sans"/>
              </a:rPr>
              <a:t>Một failure không tương đương một bug; nhiều checks có thể cùng một nguyên nhân.</a:t>
            </a:r>
          </a:p>
        </p:txBody>
      </p:sp>
    </p:spTree>
    <p:extLst>
      <p:ext uri="{BB962C8B-B14F-4D97-AF65-F5344CB8AC3E}">
        <p14:creationId xmlns:p14="http://schemas.microsoft.com/office/powerpoint/2010/main" val="11163926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6DC724-5C74-41DD-89A7-C91A1FC4654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1F477B13-93A1-49A7-8753-3CA222EB7757}"/>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Giả định và rủi ro</a:t>
            </a:r>
          </a:p>
        </p:txBody>
      </p:sp>
      <p:sp>
        <p:nvSpPr>
          <p:cNvPr id="3" name="">
            <a:extLst xmlns:a="http://schemas.openxmlformats.org/drawingml/2006/main">
              <a:ext uri="{FF2B5EF4-FFF2-40B4-BE49-F238E27FC236}">
                <a16:creationId xmlns:a16="http://schemas.microsoft.com/office/drawing/2014/main" id="{B87B22E8-06EE-4CA0-A6DA-83A166226BE7}"/>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BCB48928-9113-43DF-A75E-DCD46E51F02F}"/>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647D8290-89A1-49E0-871C-A7CB91A35C9E}"/>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06</a:t>
            </a:r>
          </a:p>
        </p:txBody>
      </p:sp>
      <p:graphicFrame>
        <p:nvGraphicFramePr>
          <p:cNvPr id="6" name="">
            <a:extLst xmlns:a="http://schemas.openxmlformats.org/drawingml/2006/main">
              <a:ext uri="{FF2B5EF4-FFF2-40B4-BE49-F238E27FC236}">
                <a16:creationId xmlns:a16="http://schemas.microsoft.com/office/drawing/2014/main" id="{90BF1A87-97C8-4014-9E5C-6F01587EB13C}"/>
              </a:ext>
            </a:extLst>
          </p:cNvPr>
          <p:cNvGraphicFramePr/>
          <p:nvPr/>
        </p:nvGraphicFramePr>
        <p:xfrm>
          <a:off xmlns:a="http://schemas.openxmlformats.org/drawingml/2006/main" x="609600" y="1762125"/>
          <a:ext xmlns:a="http://schemas.openxmlformats.org/drawingml/2006/main" cx="10972800" cy="3857625"/>
        </p:xfrm>
        <a:graphic xmlns:a="http://schemas.openxmlformats.org/drawingml/2006/main">
          <a:graphicData uri="http://schemas.openxmlformats.org/drawingml/2006/table">
            <a:tbl>
              <a:tblPr/>
              <a:tblGrid>
                <a:gridCol w="5076825"/>
                <a:gridCol w="5895975"/>
              </a:tblGrid>
              <a:tr h="642938">
                <a:tc>
                  <a:txBody>
                    <a:bodyPr/>
                    <a:lstStyle/>
                    <a:p>
                      <a:r>
                        <a:rPr sz="1725" b="1">
                          <a:solidFill>
                            <a:srgbClr val="FFFFFF"/>
                          </a:solidFill>
                          <a:latin typeface="DejaVu Sans"/>
                          <a:ea typeface="DejaVu Sans"/>
                          <a:cs typeface="DejaVu Sans"/>
                        </a:rPr>
                        <a:t>Điều cần kiểm soát</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725" b="1">
                          <a:solidFill>
                            <a:srgbClr val="FFFFFF"/>
                          </a:solidFill>
                          <a:latin typeface="DejaVu Sans"/>
                          <a:ea typeface="DejaVu Sans"/>
                          <a:cs typeface="DejaVu Sans"/>
                        </a:rPr>
                        <a:t>Cách xử lý</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42938">
                <a:tc>
                  <a:txBody>
                    <a:bodyPr/>
                    <a:lstStyle/>
                    <a:p>
                      <a:r>
                        <a:rPr sz="1725" b="0">
                          <a:solidFill>
                            <a:srgbClr val="213547"/>
                          </a:solidFill>
                          <a:latin typeface="DejaVu Sans"/>
                          <a:ea typeface="DejaVu Sans"/>
                          <a:cs typeface="DejaVu Sans"/>
                        </a:rPr>
                        <a:t>Khác phiên bản hoặc trạng thái dữ liệu</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Ghi tag, schema, package versions và baseline</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42938">
                <a:tc>
                  <a:txBody>
                    <a:bodyPr/>
                    <a:lstStyle/>
                    <a:p>
                      <a:r>
                        <a:rPr sz="1725" b="0">
                          <a:solidFill>
                            <a:srgbClr val="213547"/>
                          </a:solidFill>
                          <a:latin typeface="DejaVu Sans"/>
                          <a:ea typeface="DejaVu Sans"/>
                          <a:cs typeface="DejaVu Sans"/>
                        </a:rPr>
                        <a:t>Fuzz tạo, sửa hoặc xóa dữ liệu</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Chạy local; reset có xác nhận; seed lại</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42938">
                <a:tc>
                  <a:txBody>
                    <a:bodyPr/>
                    <a:lstStyle/>
                    <a:p>
                      <a:r>
                        <a:rPr sz="1725" b="0">
                          <a:solidFill>
                            <a:srgbClr val="213547"/>
                          </a:solidFill>
                          <a:latin typeface="DejaVu Sans"/>
                          <a:ea typeface="DejaVu Sans"/>
                          <a:cs typeface="DejaVu Sans"/>
                        </a:rPr>
                        <a:t>Reset sót trang hoặc tác vụ nền</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Kiểm tra hết bản ghi, trash và consume</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42938">
                <a:tc>
                  <a:txBody>
                    <a:bodyPr/>
                    <a:lstStyle/>
                    <a:p>
                      <a:r>
                        <a:rPr sz="1725" b="0">
                          <a:solidFill>
                            <a:srgbClr val="213547"/>
                          </a:solidFill>
                          <a:latin typeface="DejaVu Sans"/>
                          <a:ea typeface="DejaVu Sans"/>
                          <a:cs typeface="DejaVu Sans"/>
                        </a:rPr>
                        <a:t>Upload được nhận nhưng chưa xử lý xong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Chờ task, kiểm tra document/content thật</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42938">
                <a:tc>
                  <a:txBody>
                    <a:bodyPr/>
                    <a:lstStyle/>
                    <a:p>
                      <a:r>
                        <a:rPr sz="1725" b="0">
                          <a:solidFill>
                            <a:srgbClr val="213547"/>
                          </a:solidFill>
                          <a:latin typeface="DejaVu Sans"/>
                          <a:ea typeface="DejaVu Sans"/>
                          <a:cs typeface="DejaVu Sans"/>
                        </a:rPr>
                        <a:t>Token sai hoặc xuất hiện trong log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Tiền kiểm auth; che bí mật trước khi chia sẻ</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bl>
          </a:graphicData>
        </a:graphic>
      </p:graphicFrame>
      <p:sp>
        <p:nvSpPr>
          <p:cNvPr id="7" name="text-5">
            <a:extLst xmlns:a="http://schemas.openxmlformats.org/drawingml/2006/main">
              <a:ext uri="{FF2B5EF4-FFF2-40B4-BE49-F238E27FC236}">
                <a16:creationId xmlns:a16="http://schemas.microsoft.com/office/drawing/2014/main" id="{6A2C47FE-F7EE-4676-8A5A-C07905B66FE4}"/>
              </a:ext>
            </a:extLst>
          </p:cNvPr>
          <p:cNvSpPr>
            <a:spLocks xmlns:a="http://schemas.openxmlformats.org/drawingml/2006/main" noGrp="1"/>
          </p:cNvSpPr>
          <p:nvPr/>
        </p:nvSpPr>
        <p:spPr>
          <a:xfrm xmlns:a="http://schemas.openxmlformats.org/drawingml/2006/main">
            <a:off x="609600" y="5810250"/>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007F78"/>
                </a:solidFill>
                <a:latin typeface="DejaVu Sans"/>
                <a:ea typeface="DejaVu Sans"/>
                <a:cs typeface="DejaVu Sans"/>
              </a:defRPr>
            </a:defPPr>
          </a:lstStyle>
          <a:p xmlns:a="http://schemas.openxmlformats.org/drawingml/2006/main">
            <a:pPr>
              <a:defRPr sz="1800" b="1">
                <a:solidFill>
                  <a:srgbClr val="007F78"/>
                </a:solidFill>
                <a:latin typeface="DejaVu Sans"/>
                <a:ea typeface="DejaVu Sans"/>
                <a:cs typeface="DejaVu Sans"/>
              </a:defRPr>
            </a:pPr>
            <a:r>
              <a:rPr sz="1800" b="1">
                <a:solidFill>
                  <a:srgbClr val="007F78"/>
                </a:solidFill>
                <a:latin typeface="DejaVu Sans"/>
                <a:ea typeface="DejaVu Sans"/>
                <a:cs typeface="DejaVu Sans"/>
              </a:rPr>
              <a:t>Cùng seed chỉ là một điều kiện tái lập, không bảo đảm kết quả giống 100%.</a:t>
            </a:r>
          </a:p>
        </p:txBody>
      </p:sp>
    </p:spTree>
    <p:extLst>
      <p:ext uri="{BB962C8B-B14F-4D97-AF65-F5344CB8AC3E}">
        <p14:creationId xmlns:p14="http://schemas.microsoft.com/office/powerpoint/2010/main" val="21262567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AF8EB9-1DE3-4371-A92F-B695285EFA6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6FAB0AFE-2664-4188-A9C8-187D862171D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Thiết kế test case: phân vùng và giá trị biên</a:t>
            </a:r>
          </a:p>
        </p:txBody>
      </p:sp>
      <p:sp>
        <p:nvSpPr>
          <p:cNvPr id="3" name="">
            <a:extLst xmlns:a="http://schemas.openxmlformats.org/drawingml/2006/main">
              <a:ext uri="{FF2B5EF4-FFF2-40B4-BE49-F238E27FC236}">
                <a16:creationId xmlns:a16="http://schemas.microsoft.com/office/drawing/2014/main" id="{980CAB48-3267-40B0-BE41-26338D99ACB9}"/>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72942686-475D-4A91-92C7-05ECE5879BF8}"/>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95B6F742-FA2C-46CF-8A1C-1D369AE5AEC7}"/>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07</a:t>
            </a:r>
          </a:p>
        </p:txBody>
      </p:sp>
      <p:graphicFrame>
        <p:nvGraphicFramePr>
          <p:cNvPr id="6" name="">
            <a:extLst xmlns:a="http://schemas.openxmlformats.org/drawingml/2006/main">
              <a:ext uri="{FF2B5EF4-FFF2-40B4-BE49-F238E27FC236}">
                <a16:creationId xmlns:a16="http://schemas.microsoft.com/office/drawing/2014/main" id="{6DCF8C55-BFC6-4EDA-9E51-E0BE30E836C6}"/>
              </a:ext>
            </a:extLst>
          </p:cNvPr>
          <p:cNvGraphicFramePr/>
          <p:nvPr/>
        </p:nvGraphicFramePr>
        <p:xfrm>
          <a:off xmlns:a="http://schemas.openxmlformats.org/drawingml/2006/main" x="609600" y="1762125"/>
          <a:ext xmlns:a="http://schemas.openxmlformats.org/drawingml/2006/main" cx="10972800" cy="3238500"/>
        </p:xfrm>
        <a:graphic xmlns:a="http://schemas.openxmlformats.org/drawingml/2006/main">
          <a:graphicData uri="http://schemas.openxmlformats.org/drawingml/2006/table">
            <a:tbl>
              <a:tblPr/>
              <a:tblGrid>
                <a:gridCol w="2571750"/>
                <a:gridCol w="4038600"/>
                <a:gridCol w="4362450"/>
              </a:tblGrid>
              <a:tr h="647700">
                <a:tc>
                  <a:txBody>
                    <a:bodyPr/>
                    <a:lstStyle/>
                    <a:p>
                      <a:r>
                        <a:rPr sz="1650" b="1">
                          <a:solidFill>
                            <a:srgbClr val="FFFFFF"/>
                          </a:solidFill>
                          <a:latin typeface="DejaVu Sans"/>
                          <a:ea typeface="DejaVu Sans"/>
                          <a:cs typeface="DejaVu Sans"/>
                        </a:rPr>
                        <a:t>Nhóm dữ liệu</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650" b="1">
                          <a:solidFill>
                            <a:srgbClr val="FFFFFF"/>
                          </a:solidFill>
                          <a:latin typeface="DejaVu Sans"/>
                          <a:ea typeface="DejaVu Sans"/>
                          <a:cs typeface="DejaVu Sans"/>
                        </a:rPr>
                        <a:t>Ví dụ</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650" b="1">
                          <a:solidFill>
                            <a:srgbClr val="FFFFFF"/>
                          </a:solidFill>
                          <a:latin typeface="DejaVu Sans"/>
                          <a:ea typeface="DejaVu Sans"/>
                          <a:cs typeface="DejaVu Sans"/>
                        </a:rPr>
                        <a:t>Kỳ vọng thiết kế</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47700">
                <a:tc>
                  <a:txBody>
                    <a:bodyPr/>
                    <a:lstStyle/>
                    <a:p>
                      <a:r>
                        <a:rPr sz="1650" b="0">
                          <a:solidFill>
                            <a:srgbClr val="213547"/>
                          </a:solidFill>
                          <a:latin typeface="DejaVu Sans"/>
                          <a:ea typeface="DejaVu Sans"/>
                          <a:cs typeface="DejaVu Sans"/>
                        </a:rPr>
                        <a:t>Hợp lệ</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Tên mới, Unicode, L-1, L</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Tạo thành công; GET đối chiếu</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47700">
                <a:tc>
                  <a:txBody>
                    <a:bodyPr/>
                    <a:lstStyle/>
                    <a:p>
                      <a:r>
                        <a:rPr sz="1650" b="0">
                          <a:solidFill>
                            <a:srgbClr val="213547"/>
                          </a:solidFill>
                          <a:latin typeface="DejaVu Sans"/>
                          <a:ea typeface="DejaVu Sans"/>
                          <a:cs typeface="DejaVu Sans"/>
                        </a:rPr>
                        <a:t>Không hợp lệ</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Thiếu name, rỗng, null</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Từ chối có kiểm soát</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47700">
                <a:tc>
                  <a:txBody>
                    <a:bodyPr/>
                    <a:lstStyle/>
                    <a:p>
                      <a:r>
                        <a:rPr sz="1650" b="0">
                          <a:solidFill>
                            <a:srgbClr val="213547"/>
                          </a:solidFill>
                          <a:latin typeface="DejaVu Sans"/>
                          <a:ea typeface="DejaVu Sans"/>
                          <a:cs typeface="DejaVu Sans"/>
                        </a:rPr>
                        <a:t>Vượt biên</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Tên L+1 hoặc 1000 ký tự</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c>
                  <a:txBody>
                    <a:bodyPr/>
                    <a:lstStyle/>
                    <a:p>
                      <a:r>
                        <a:rPr sz="1650" b="0">
                          <a:solidFill>
                            <a:srgbClr val="213547"/>
                          </a:solidFill>
                          <a:latin typeface="DejaVu Sans"/>
                          <a:ea typeface="DejaVu Sans"/>
                          <a:cs typeface="DejaVu Sans"/>
                        </a:rPr>
                        <a:t>Từ chối theo maxLength</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47700">
                <a:tc>
                  <a:txBody>
                    <a:bodyPr/>
                    <a:lstStyle/>
                    <a:p>
                      <a:r>
                        <a:rPr sz="1650" b="0">
                          <a:solidFill>
                            <a:srgbClr val="213547"/>
                          </a:solidFill>
                          <a:latin typeface="DejaVu Sans"/>
                          <a:ea typeface="DejaVu Sans"/>
                          <a:cs typeface="DejaVu Sans"/>
                        </a:rPr>
                        <a:t>Trạng thái / xác thực</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ID đã xóa, DELETE lần 2, token sai</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c>
                  <a:txBody>
                    <a:bodyPr/>
                    <a:lstStyle/>
                    <a:p>
                      <a:r>
                        <a:rPr sz="1650" b="0">
                          <a:solidFill>
                            <a:srgbClr val="213547"/>
                          </a:solidFill>
                          <a:latin typeface="DejaVu Sans"/>
                          <a:ea typeface="DejaVu Sans"/>
                          <a:cs typeface="DejaVu Sans"/>
                        </a:rPr>
                        <a:t>404 hoặc lỗi auth đúng hợp đồng</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72271031-0180-47B3-A2EB-9992605AE457}"/>
              </a:ext>
            </a:extLst>
          </p:cNvPr>
          <p:cNvSpPr>
            <a:spLocks xmlns:a="http://schemas.openxmlformats.org/drawingml/2006/main" noGrp="1"/>
          </p:cNvSpPr>
          <p:nvPr/>
        </p:nvSpPr>
        <p:spPr>
          <a:xfrm xmlns:a="http://schemas.openxmlformats.org/drawingml/2006/main">
            <a:off x="609600" y="523875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L lấy từ schema local; ghi chú TV2 nêu L = 128, cần xác minh trước khi chạy.</a:t>
            </a:r>
          </a:p>
        </p:txBody>
      </p:sp>
      <p:sp>
        <p:nvSpPr>
          <p:cNvPr id="8" name="text-6">
            <a:extLst xmlns:a="http://schemas.openxmlformats.org/drawingml/2006/main">
              <a:ext uri="{FF2B5EF4-FFF2-40B4-BE49-F238E27FC236}">
                <a16:creationId xmlns:a16="http://schemas.microsoft.com/office/drawing/2014/main" id="{4CE11302-202C-4311-BB66-7BCD8BA23A1D}"/>
              </a:ext>
            </a:extLst>
          </p:cNvPr>
          <p:cNvSpPr>
            <a:spLocks xmlns:a="http://schemas.openxmlformats.org/drawingml/2006/main" noGrp="1"/>
          </p:cNvSpPr>
          <p:nvPr/>
        </p:nvSpPr>
        <p:spPr>
          <a:xfrm xmlns:a="http://schemas.openxmlformats.org/drawingml/2006/main">
            <a:off x="609600" y="580072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007F78"/>
                </a:solidFill>
                <a:latin typeface="DejaVu Sans"/>
                <a:ea typeface="DejaVu Sans"/>
                <a:cs typeface="DejaVu Sans"/>
              </a:defRPr>
            </a:defPPr>
          </a:lstStyle>
          <a:p xmlns:a="http://schemas.openxmlformats.org/drawingml/2006/main">
            <a:pPr>
              <a:defRPr sz="1650" b="1">
                <a:solidFill>
                  <a:srgbClr val="007F78"/>
                </a:solidFill>
                <a:latin typeface="DejaVu Sans"/>
                <a:ea typeface="DejaVu Sans"/>
                <a:cs typeface="DejaVu Sans"/>
              </a:defRPr>
            </a:pPr>
            <a:r>
              <a:rPr sz="1650" b="1">
                <a:solidFill>
                  <a:srgbClr val="007F78"/>
                </a:solidFill>
                <a:latin typeface="DejaVu Sans"/>
                <a:ea typeface="DejaVu Sans"/>
                <a:cs typeface="DejaVu Sans"/>
              </a:rPr>
              <a:t>Đã thiết kế 40 ca bổ sung cho Correspondents và Document Types; hiện chưa chạy.</a:t>
            </a:r>
          </a:p>
        </p:txBody>
      </p:sp>
    </p:spTree>
    <p:extLst>
      <p:ext uri="{BB962C8B-B14F-4D97-AF65-F5344CB8AC3E}">
        <p14:creationId xmlns:p14="http://schemas.microsoft.com/office/powerpoint/2010/main" val="10847254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21BB8D-9BA7-45F5-AE10-4F5FF4E5A01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FA1DA3CF-5BCF-4C5E-BDD2-4C90B6742BF4}"/>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Ba scenario nghiệp vụ bổ sung</a:t>
            </a:r>
          </a:p>
        </p:txBody>
      </p:sp>
      <p:sp>
        <p:nvSpPr>
          <p:cNvPr id="3" name="">
            <a:extLst xmlns:a="http://schemas.openxmlformats.org/drawingml/2006/main">
              <a:ext uri="{FF2B5EF4-FFF2-40B4-BE49-F238E27FC236}">
                <a16:creationId xmlns:a16="http://schemas.microsoft.com/office/drawing/2014/main" id="{D5217FEB-1D26-474A-B838-A6282915048D}"/>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F7409CC5-9488-4396-A609-CA5F2D65E3D6}"/>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3DC5A2E6-5AEC-4F1D-BFDC-EB600635E6A4}"/>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08</a:t>
            </a:r>
          </a:p>
        </p:txBody>
      </p:sp>
      <p:sp>
        <p:nvSpPr>
          <p:cNvPr id="6" name="text-5">
            <a:extLst xmlns:a="http://schemas.openxmlformats.org/drawingml/2006/main">
              <a:ext uri="{FF2B5EF4-FFF2-40B4-BE49-F238E27FC236}">
                <a16:creationId xmlns:a16="http://schemas.microsoft.com/office/drawing/2014/main" id="{37137EFB-F348-4DE0-97CA-71307AFAE52C}"/>
              </a:ext>
            </a:extLst>
          </p:cNvPr>
          <p:cNvSpPr>
            <a:spLocks xmlns:a="http://schemas.openxmlformats.org/drawingml/2006/main" noGrp="1"/>
          </p:cNvSpPr>
          <p:nvPr/>
        </p:nvSpPr>
        <p:spPr>
          <a:xfrm xmlns:a="http://schemas.openxmlformats.org/drawingml/2006/main">
            <a:off x="609600" y="179070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007F78"/>
                </a:solidFill>
                <a:latin typeface="DejaVu Sans"/>
                <a:ea typeface="DejaVu Sans"/>
                <a:cs typeface="DejaVu Sans"/>
              </a:defRPr>
            </a:defPPr>
          </a:lstStyle>
          <a:p xmlns:a="http://schemas.openxmlformats.org/drawingml/2006/main">
            <a:pPr>
              <a:defRPr sz="2775" b="1">
                <a:solidFill>
                  <a:srgbClr val="007F78"/>
                </a:solidFill>
                <a:latin typeface="DejaVu Sans"/>
                <a:ea typeface="DejaVu Sans"/>
                <a:cs typeface="DejaVu Sans"/>
              </a:defRPr>
            </a:pPr>
            <a:r>
              <a:rPr sz="2775" b="1">
                <a:solidFill>
                  <a:srgbClr val="007F78"/>
                </a:solidFill>
                <a:latin typeface="DejaVu Sans"/>
                <a:ea typeface="DejaVu Sans"/>
                <a:cs typeface="DejaVu Sans"/>
              </a:rPr>
              <a:t>01</a:t>
            </a:r>
          </a:p>
        </p:txBody>
      </p:sp>
      <p:sp>
        <p:nvSpPr>
          <p:cNvPr id="7" name="text-6">
            <a:extLst xmlns:a="http://schemas.openxmlformats.org/drawingml/2006/main">
              <a:ext uri="{FF2B5EF4-FFF2-40B4-BE49-F238E27FC236}">
                <a16:creationId xmlns:a16="http://schemas.microsoft.com/office/drawing/2014/main" id="{69D3EF61-BFD4-4211-9E90-11EEE4C23376}"/>
              </a:ext>
            </a:extLst>
          </p:cNvPr>
          <p:cNvSpPr>
            <a:spLocks xmlns:a="http://schemas.openxmlformats.org/drawingml/2006/main" noGrp="1"/>
          </p:cNvSpPr>
          <p:nvPr/>
        </p:nvSpPr>
        <p:spPr>
          <a:xfrm xmlns:a="http://schemas.openxmlformats.org/drawingml/2006/main">
            <a:off x="1609725" y="1790700"/>
            <a:ext cx="9763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DejaVu Sans"/>
                <a:ea typeface="DejaVu Sans"/>
                <a:cs typeface="DejaVu Sans"/>
              </a:defRPr>
            </a:defPPr>
          </a:lstStyle>
          <a:p xmlns:a="http://schemas.openxmlformats.org/drawingml/2006/main">
            <a:pPr>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Upload và xử lý tài liệu</a:t>
            </a:r>
          </a:p>
        </p:txBody>
      </p:sp>
      <p:sp>
        <p:nvSpPr>
          <p:cNvPr id="8" name="text-7">
            <a:extLst xmlns:a="http://schemas.openxmlformats.org/drawingml/2006/main">
              <a:ext uri="{FF2B5EF4-FFF2-40B4-BE49-F238E27FC236}">
                <a16:creationId xmlns:a16="http://schemas.microsoft.com/office/drawing/2014/main" id="{D71E5B0E-681B-4CD2-9868-B19D31041752}"/>
              </a:ext>
            </a:extLst>
          </p:cNvPr>
          <p:cNvSpPr>
            <a:spLocks xmlns:a="http://schemas.openxmlformats.org/drawingml/2006/main" noGrp="1"/>
          </p:cNvSpPr>
          <p:nvPr/>
        </p:nvSpPr>
        <p:spPr>
          <a:xfrm xmlns:a="http://schemas.openxmlformats.org/drawingml/2006/main">
            <a:off x="1609725" y="2324100"/>
            <a:ext cx="976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213547"/>
                </a:solidFill>
                <a:latin typeface="DejaVu Sans"/>
                <a:ea typeface="DejaVu Sans"/>
                <a:cs typeface="DejaVu Sans"/>
              </a:defRPr>
            </a:defPPr>
          </a:lstStyle>
          <a:p xmlns:a="http://schemas.openxmlformats.org/drawingml/2006/main">
            <a:pPr>
              <a:defRPr sz="1800" b="0">
                <a:solidFill>
                  <a:srgbClr val="213547"/>
                </a:solidFill>
                <a:latin typeface="DejaVu Sans"/>
                <a:ea typeface="DejaVu Sans"/>
                <a:cs typeface="DejaVu Sans"/>
              </a:defRPr>
            </a:pPr>
            <a:r>
              <a:rPr sz="1800" b="0">
                <a:solidFill>
                  <a:srgbClr val="213547"/>
                </a:solidFill>
                <a:latin typeface="DejaVu Sans"/>
                <a:ea typeface="DejaVu Sans"/>
                <a:cs typeface="DejaVu Sans"/>
              </a:rPr>
              <a:t>PDF mẫu → chờ task → tài liệu xuất hiện, có content</a:t>
            </a:r>
          </a:p>
        </p:txBody>
      </p:sp>
      <p:sp>
        <p:nvSpPr>
          <p:cNvPr id="9" name="text-8">
            <a:extLst xmlns:a="http://schemas.openxmlformats.org/drawingml/2006/main">
              <a:ext uri="{FF2B5EF4-FFF2-40B4-BE49-F238E27FC236}">
                <a16:creationId xmlns:a16="http://schemas.microsoft.com/office/drawing/2014/main" id="{BEB881C5-6A37-490D-BDE2-22F67381CCDE}"/>
              </a:ext>
            </a:extLst>
          </p:cNvPr>
          <p:cNvSpPr>
            <a:spLocks xmlns:a="http://schemas.openxmlformats.org/drawingml/2006/main" noGrp="1"/>
          </p:cNvSpPr>
          <p:nvPr/>
        </p:nvSpPr>
        <p:spPr>
          <a:xfrm xmlns:a="http://schemas.openxmlformats.org/drawingml/2006/main">
            <a:off x="609600" y="300990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007F78"/>
                </a:solidFill>
                <a:latin typeface="DejaVu Sans"/>
                <a:ea typeface="DejaVu Sans"/>
                <a:cs typeface="DejaVu Sans"/>
              </a:defRPr>
            </a:defPPr>
          </a:lstStyle>
          <a:p xmlns:a="http://schemas.openxmlformats.org/drawingml/2006/main">
            <a:pPr>
              <a:defRPr sz="2775" b="1">
                <a:solidFill>
                  <a:srgbClr val="007F78"/>
                </a:solidFill>
                <a:latin typeface="DejaVu Sans"/>
                <a:ea typeface="DejaVu Sans"/>
                <a:cs typeface="DejaVu Sans"/>
              </a:defRPr>
            </a:pPr>
            <a:r>
              <a:rPr sz="2775" b="1">
                <a:solidFill>
                  <a:srgbClr val="007F78"/>
                </a:solidFill>
                <a:latin typeface="DejaVu Sans"/>
                <a:ea typeface="DejaVu Sans"/>
                <a:cs typeface="DejaVu Sans"/>
              </a:rPr>
              <a:t>02</a:t>
            </a:r>
          </a:p>
        </p:txBody>
      </p:sp>
      <p:sp>
        <p:nvSpPr>
          <p:cNvPr id="10" name="text-9">
            <a:extLst xmlns:a="http://schemas.openxmlformats.org/drawingml/2006/main">
              <a:ext uri="{FF2B5EF4-FFF2-40B4-BE49-F238E27FC236}">
                <a16:creationId xmlns:a16="http://schemas.microsoft.com/office/drawing/2014/main" id="{70EA9E20-AB3C-4AAC-A865-8D141B29D19C}"/>
              </a:ext>
            </a:extLst>
          </p:cNvPr>
          <p:cNvSpPr>
            <a:spLocks xmlns:a="http://schemas.openxmlformats.org/drawingml/2006/main" noGrp="1"/>
          </p:cNvSpPr>
          <p:nvPr/>
        </p:nvSpPr>
        <p:spPr>
          <a:xfrm xmlns:a="http://schemas.openxmlformats.org/drawingml/2006/main">
            <a:off x="1609725" y="3009900"/>
            <a:ext cx="9763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DejaVu Sans"/>
                <a:ea typeface="DejaVu Sans"/>
                <a:cs typeface="DejaVu Sans"/>
              </a:defRPr>
            </a:defPPr>
          </a:lstStyle>
          <a:p xmlns:a="http://schemas.openxmlformats.org/drawingml/2006/main">
            <a:pPr>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Gán dữ liệu phân loại</a:t>
            </a:r>
          </a:p>
        </p:txBody>
      </p:sp>
      <p:sp>
        <p:nvSpPr>
          <p:cNvPr id="11" name="text-10">
            <a:extLst xmlns:a="http://schemas.openxmlformats.org/drawingml/2006/main">
              <a:ext uri="{FF2B5EF4-FFF2-40B4-BE49-F238E27FC236}">
                <a16:creationId xmlns:a16="http://schemas.microsoft.com/office/drawing/2014/main" id="{0EF75F06-977C-4926-B818-18C9D1C9F024}"/>
              </a:ext>
            </a:extLst>
          </p:cNvPr>
          <p:cNvSpPr>
            <a:spLocks xmlns:a="http://schemas.openxmlformats.org/drawingml/2006/main" noGrp="1"/>
          </p:cNvSpPr>
          <p:nvPr/>
        </p:nvSpPr>
        <p:spPr>
          <a:xfrm xmlns:a="http://schemas.openxmlformats.org/drawingml/2006/main">
            <a:off x="1609725" y="3543300"/>
            <a:ext cx="976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213547"/>
                </a:solidFill>
                <a:latin typeface="DejaVu Sans"/>
                <a:ea typeface="DejaVu Sans"/>
                <a:cs typeface="DejaVu Sans"/>
              </a:defRPr>
            </a:defPPr>
          </a:lstStyle>
          <a:p xmlns:a="http://schemas.openxmlformats.org/drawingml/2006/main">
            <a:pPr>
              <a:defRPr sz="1800" b="0">
                <a:solidFill>
                  <a:srgbClr val="213547"/>
                </a:solidFill>
                <a:latin typeface="DejaVu Sans"/>
                <a:ea typeface="DejaVu Sans"/>
                <a:cs typeface="DejaVu Sans"/>
              </a:defRPr>
            </a:pPr>
            <a:r>
              <a:rPr sz="1800" b="0">
                <a:solidFill>
                  <a:srgbClr val="213547"/>
                </a:solidFill>
                <a:latin typeface="DejaVu Sans"/>
                <a:ea typeface="DejaVu Sans"/>
                <a:cs typeface="DejaVu Sans"/>
              </a:rPr>
              <a:t>Tag / correspondent / document type → GET đối chiếu ID</a:t>
            </a:r>
          </a:p>
        </p:txBody>
      </p:sp>
      <p:sp>
        <p:nvSpPr>
          <p:cNvPr id="12" name="text-11">
            <a:extLst xmlns:a="http://schemas.openxmlformats.org/drawingml/2006/main">
              <a:ext uri="{FF2B5EF4-FFF2-40B4-BE49-F238E27FC236}">
                <a16:creationId xmlns:a16="http://schemas.microsoft.com/office/drawing/2014/main" id="{C3480243-A16D-4DC6-B0BE-8ADAB26D40B3}"/>
              </a:ext>
            </a:extLst>
          </p:cNvPr>
          <p:cNvSpPr>
            <a:spLocks xmlns:a="http://schemas.openxmlformats.org/drawingml/2006/main" noGrp="1"/>
          </p:cNvSpPr>
          <p:nvPr/>
        </p:nvSpPr>
        <p:spPr>
          <a:xfrm xmlns:a="http://schemas.openxmlformats.org/drawingml/2006/main">
            <a:off x="609600" y="422910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007F78"/>
                </a:solidFill>
                <a:latin typeface="DejaVu Sans"/>
                <a:ea typeface="DejaVu Sans"/>
                <a:cs typeface="DejaVu Sans"/>
              </a:defRPr>
            </a:defPPr>
          </a:lstStyle>
          <a:p xmlns:a="http://schemas.openxmlformats.org/drawingml/2006/main">
            <a:pPr>
              <a:defRPr sz="2775" b="1">
                <a:solidFill>
                  <a:srgbClr val="007F78"/>
                </a:solidFill>
                <a:latin typeface="DejaVu Sans"/>
                <a:ea typeface="DejaVu Sans"/>
                <a:cs typeface="DejaVu Sans"/>
              </a:defRPr>
            </a:pPr>
            <a:r>
              <a:rPr sz="2775" b="1">
                <a:solidFill>
                  <a:srgbClr val="007F78"/>
                </a:solidFill>
                <a:latin typeface="DejaVu Sans"/>
                <a:ea typeface="DejaVu Sans"/>
                <a:cs typeface="DejaVu Sans"/>
              </a:rPr>
              <a:t>03</a:t>
            </a:r>
          </a:p>
        </p:txBody>
      </p:sp>
      <p:sp>
        <p:nvSpPr>
          <p:cNvPr id="13" name="text-12">
            <a:extLst xmlns:a="http://schemas.openxmlformats.org/drawingml/2006/main">
              <a:ext uri="{FF2B5EF4-FFF2-40B4-BE49-F238E27FC236}">
                <a16:creationId xmlns:a16="http://schemas.microsoft.com/office/drawing/2014/main" id="{F982C2AA-09A7-4B7B-8DFB-04BCAF5CA738}"/>
              </a:ext>
            </a:extLst>
          </p:cNvPr>
          <p:cNvSpPr>
            <a:spLocks xmlns:a="http://schemas.openxmlformats.org/drawingml/2006/main" noGrp="1"/>
          </p:cNvSpPr>
          <p:nvPr/>
        </p:nvSpPr>
        <p:spPr>
          <a:xfrm xmlns:a="http://schemas.openxmlformats.org/drawingml/2006/main">
            <a:off x="1609725" y="4229100"/>
            <a:ext cx="9763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02A43"/>
                </a:solidFill>
                <a:latin typeface="DejaVu Sans"/>
                <a:ea typeface="DejaVu Sans"/>
                <a:cs typeface="DejaVu Sans"/>
              </a:defRPr>
            </a:defPPr>
          </a:lstStyle>
          <a:p xmlns:a="http://schemas.openxmlformats.org/drawingml/2006/main">
            <a:pPr>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Tìm kiếm và lọc</a:t>
            </a:r>
          </a:p>
        </p:txBody>
      </p:sp>
      <p:sp>
        <p:nvSpPr>
          <p:cNvPr id="14" name="text-13">
            <a:extLst xmlns:a="http://schemas.openxmlformats.org/drawingml/2006/main">
              <a:ext uri="{FF2B5EF4-FFF2-40B4-BE49-F238E27FC236}">
                <a16:creationId xmlns:a16="http://schemas.microsoft.com/office/drawing/2014/main" id="{9616B131-0B0F-4BA6-8887-7DB6FD849A7F}"/>
              </a:ext>
            </a:extLst>
          </p:cNvPr>
          <p:cNvSpPr>
            <a:spLocks xmlns:a="http://schemas.openxmlformats.org/drawingml/2006/main" noGrp="1"/>
          </p:cNvSpPr>
          <p:nvPr/>
        </p:nvSpPr>
        <p:spPr>
          <a:xfrm xmlns:a="http://schemas.openxmlformats.org/drawingml/2006/main">
            <a:off x="1609725" y="4762500"/>
            <a:ext cx="976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213547"/>
                </a:solidFill>
                <a:latin typeface="DejaVu Sans"/>
                <a:ea typeface="DejaVu Sans"/>
                <a:cs typeface="DejaVu Sans"/>
              </a:defRPr>
            </a:defPPr>
          </a:lstStyle>
          <a:p xmlns:a="http://schemas.openxmlformats.org/drawingml/2006/main">
            <a:pPr>
              <a:defRPr sz="1800" b="0">
                <a:solidFill>
                  <a:srgbClr val="213547"/>
                </a:solidFill>
                <a:latin typeface="DejaVu Sans"/>
                <a:ea typeface="DejaVu Sans"/>
                <a:cs typeface="DejaVu Sans"/>
              </a:defRPr>
            </a:pPr>
            <a:r>
              <a:rPr sz="1800" b="0">
                <a:solidFill>
                  <a:srgbClr val="213547"/>
                </a:solidFill>
                <a:latin typeface="DejaVu Sans"/>
                <a:ea typeface="DejaVu Sans"/>
                <a:cs typeface="DejaVu Sans"/>
              </a:rPr>
              <a:t>Từ khóa hoặc tag → tìm đúng tài liệu mục tiêu</a:t>
            </a:r>
          </a:p>
        </p:txBody>
      </p:sp>
      <p:sp>
        <p:nvSpPr>
          <p:cNvPr id="15" name="text-14">
            <a:extLst xmlns:a="http://schemas.openxmlformats.org/drawingml/2006/main">
              <a:ext uri="{FF2B5EF4-FFF2-40B4-BE49-F238E27FC236}">
                <a16:creationId xmlns:a16="http://schemas.microsoft.com/office/drawing/2014/main" id="{A91F845A-45CD-4053-9C5E-B140543BF8B9}"/>
              </a:ext>
            </a:extLst>
          </p:cNvPr>
          <p:cNvSpPr>
            <a:spLocks xmlns:a="http://schemas.openxmlformats.org/drawingml/2006/main" noGrp="1"/>
          </p:cNvSpPr>
          <p:nvPr/>
        </p:nvSpPr>
        <p:spPr>
          <a:xfrm xmlns:a="http://schemas.openxmlformats.org/drawingml/2006/main">
            <a:off x="609600" y="57531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07F78"/>
                </a:solidFill>
                <a:latin typeface="DejaVu Sans"/>
                <a:ea typeface="DejaVu Sans"/>
                <a:cs typeface="DejaVu Sans"/>
              </a:defRPr>
            </a:defPPr>
          </a:lstStyle>
          <a:p xmlns:a="http://schemas.openxmlformats.org/drawingml/2006/main">
            <a:pPr>
              <a:defRPr sz="1875" b="1">
                <a:solidFill>
                  <a:srgbClr val="007F78"/>
                </a:solidFill>
                <a:latin typeface="DejaVu Sans"/>
                <a:ea typeface="DejaVu Sans"/>
                <a:cs typeface="DejaVu Sans"/>
              </a:defRPr>
            </a:pPr>
            <a:r>
              <a:rPr sz="1875" b="1">
                <a:solidFill>
                  <a:srgbClr val="007F78"/>
                </a:solidFill>
                <a:latin typeface="DejaVu Sans"/>
                <a:ea typeface="DejaVu Sans"/>
                <a:cs typeface="DejaVu Sans"/>
              </a:rPr>
              <a:t>Lưu HTTP response và ảnh thật. File TXT không đủ chứng minh OCR ảnh.</a:t>
            </a:r>
          </a:p>
        </p:txBody>
      </p:sp>
    </p:spTree>
    <p:extLst>
      <p:ext uri="{BB962C8B-B14F-4D97-AF65-F5344CB8AC3E}">
        <p14:creationId xmlns:p14="http://schemas.microsoft.com/office/powerpoint/2010/main" val="8622861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693C84-3840-4756-A996-D5A038949B2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E3CF021E-C49C-4B3C-BFBB-C76746F98FB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Tái hiện và phân loại failure</a:t>
            </a:r>
          </a:p>
        </p:txBody>
      </p:sp>
      <p:sp>
        <p:nvSpPr>
          <p:cNvPr id="3" name="">
            <a:extLst xmlns:a="http://schemas.openxmlformats.org/drawingml/2006/main">
              <a:ext uri="{FF2B5EF4-FFF2-40B4-BE49-F238E27FC236}">
                <a16:creationId xmlns:a16="http://schemas.microsoft.com/office/drawing/2014/main" id="{9403B4C3-61E2-448A-AE72-266D327F3DA8}"/>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FE91465F-9BF9-4632-8976-E44A20D7C73B}"/>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D9881FA9-FABE-4344-8A0A-922EA4ECF406}"/>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09</a:t>
            </a:r>
          </a:p>
        </p:txBody>
      </p:sp>
      <p:sp>
        <p:nvSpPr>
          <p:cNvPr id="6" name="text-5">
            <a:extLst xmlns:a="http://schemas.openxmlformats.org/drawingml/2006/main">
              <a:ext uri="{FF2B5EF4-FFF2-40B4-BE49-F238E27FC236}">
                <a16:creationId xmlns:a16="http://schemas.microsoft.com/office/drawing/2014/main" id="{0CF70A68-3961-4153-B3BB-CEF033901E12}"/>
              </a:ext>
            </a:extLst>
          </p:cNvPr>
          <p:cNvSpPr>
            <a:spLocks xmlns:a="http://schemas.openxmlformats.org/drawingml/2006/main" noGrp="1"/>
          </p:cNvSpPr>
          <p:nvPr/>
        </p:nvSpPr>
        <p:spPr>
          <a:xfrm xmlns:a="http://schemas.openxmlformats.org/drawingml/2006/main">
            <a:off x="609600" y="1790700"/>
            <a:ext cx="10972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007F78"/>
                </a:solidFill>
                <a:latin typeface="DejaVu Sans"/>
                <a:ea typeface="DejaVu Sans"/>
                <a:cs typeface="DejaVu Sans"/>
              </a:defRPr>
            </a:defPPr>
          </a:lstStyle>
          <a:p xmlns:a="http://schemas.openxmlformats.org/drawingml/2006/main">
            <a:pPr>
              <a:defRPr sz="2100" b="1">
                <a:solidFill>
                  <a:srgbClr val="007F78"/>
                </a:solidFill>
                <a:latin typeface="DejaVu Sans"/>
                <a:ea typeface="DejaVu Sans"/>
                <a:cs typeface="DejaVu Sans"/>
              </a:defRPr>
            </a:pPr>
            <a:r>
              <a:rPr sz="2100" b="1">
                <a:solidFill>
                  <a:srgbClr val="007F78"/>
                </a:solidFill>
                <a:latin typeface="DejaVu Sans"/>
                <a:ea typeface="DejaVu Sans"/>
                <a:cs typeface="DejaVu Sans"/>
              </a:rPr>
              <a:t>Lưu request / response  →  Tái hiện 2 lần  →  Phân loại và gắn bằng chứng</a:t>
            </a:r>
          </a:p>
        </p:txBody>
      </p:sp>
      <p:graphicFrame>
        <p:nvGraphicFramePr>
          <p:cNvPr id="7" name="">
            <a:extLst xmlns:a="http://schemas.openxmlformats.org/drawingml/2006/main">
              <a:ext uri="{FF2B5EF4-FFF2-40B4-BE49-F238E27FC236}">
                <a16:creationId xmlns:a16="http://schemas.microsoft.com/office/drawing/2014/main" id="{8368636A-3C22-4D8F-92DC-CB33AA2A4094}"/>
              </a:ext>
            </a:extLst>
          </p:cNvPr>
          <p:cNvGraphicFramePr/>
          <p:nvPr/>
        </p:nvGraphicFramePr>
        <p:xfrm>
          <a:off xmlns:a="http://schemas.openxmlformats.org/drawingml/2006/main" x="609600" y="2752725"/>
          <a:ext xmlns:a="http://schemas.openxmlformats.org/drawingml/2006/main" cx="10972800" cy="2571750"/>
        </p:xfrm>
        <a:graphic xmlns:a="http://schemas.openxmlformats.org/drawingml/2006/main">
          <a:graphicData uri="http://schemas.openxmlformats.org/drawingml/2006/table">
            <a:tbl>
              <a:tblPr/>
              <a:tblGrid>
                <a:gridCol w="3838575"/>
                <a:gridCol w="7134225"/>
              </a:tblGrid>
              <a:tr h="642938">
                <a:tc>
                  <a:txBody>
                    <a:bodyPr/>
                    <a:lstStyle/>
                    <a:p>
                      <a:r>
                        <a:rPr sz="1800" b="1">
                          <a:solidFill>
                            <a:srgbClr val="FFFFFF"/>
                          </a:solidFill>
                          <a:latin typeface="DejaVu Sans"/>
                          <a:ea typeface="DejaVu Sans"/>
                          <a:cs typeface="DejaVu Sans"/>
                        </a:rPr>
                        <a:t>Phân loại</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800" b="1">
                          <a:solidFill>
                            <a:srgbClr val="FFFFFF"/>
                          </a:solidFill>
                          <a:latin typeface="DejaVu Sans"/>
                          <a:ea typeface="DejaVu Sans"/>
                          <a:cs typeface="DejaVu Sans"/>
                        </a:rPr>
                        <a:t>Ví dụ cần xác minh</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42938">
                <a:tc>
                  <a:txBody>
                    <a:bodyPr/>
                    <a:lstStyle/>
                    <a:p>
                      <a:r>
                        <a:rPr sz="1800" b="0">
                          <a:solidFill>
                            <a:srgbClr val="213547"/>
                          </a:solidFill>
                          <a:latin typeface="DejaVu Sans"/>
                          <a:ea typeface="DejaVu Sans"/>
                          <a:cs typeface="DejaVu Sans"/>
                        </a:rPr>
                        <a:t>Lỗi server</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800" b="0">
                          <a:solidFill>
                            <a:srgbClr val="213547"/>
                          </a:solidFill>
                          <a:latin typeface="DejaVu Sans"/>
                          <a:ea typeface="DejaVu Sans"/>
                          <a:cs typeface="DejaVu Sans"/>
                        </a:rPr>
                        <a:t>Input bất thường gây HTTP 500</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42938">
                <a:tc>
                  <a:txBody>
                    <a:bodyPr/>
                    <a:lstStyle/>
                    <a:p>
                      <a:r>
                        <a:rPr sz="1800" b="0">
                          <a:solidFill>
                            <a:srgbClr val="213547"/>
                          </a:solidFill>
                          <a:latin typeface="DejaVu Sans"/>
                          <a:ea typeface="DejaVu Sans"/>
                          <a:cs typeface="DejaVu Sans"/>
                        </a:rPr>
                        <a:t>Lệch hợp đồng OpenAPI</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800" b="0">
                          <a:solidFill>
                            <a:srgbClr val="213547"/>
                          </a:solidFill>
                          <a:latin typeface="DejaVu Sans"/>
                          <a:ea typeface="DejaVu Sans"/>
                          <a:cs typeface="DejaVu Sans"/>
                        </a:rPr>
                        <a:t>HTTP 201 nhưng body thiếu required</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42938">
                <a:tc>
                  <a:txBody>
                    <a:bodyPr/>
                    <a:lstStyle/>
                    <a:p>
                      <a:r>
                        <a:rPr sz="1800" b="0">
                          <a:solidFill>
                            <a:srgbClr val="213547"/>
                          </a:solidFill>
                          <a:latin typeface="DejaVu Sans"/>
                          <a:ea typeface="DejaVu Sans"/>
                          <a:cs typeface="DejaVu Sans"/>
                        </a:rPr>
                        <a:t>Test / môi trường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800" b="0">
                          <a:solidFill>
                            <a:srgbClr val="213547"/>
                          </a:solidFill>
                          <a:latin typeface="DejaVu Sans"/>
                          <a:ea typeface="DejaVu Sans"/>
                          <a:cs typeface="DejaVu Sans"/>
                        </a:rPr>
                        <a:t>ID không tồn tại, sai token, baseline chưa đúng</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bl>
          </a:graphicData>
        </a:graphic>
      </p:graphicFrame>
      <p:sp>
        <p:nvSpPr>
          <p:cNvPr id="8" name="text-6">
            <a:extLst xmlns:a="http://schemas.openxmlformats.org/drawingml/2006/main">
              <a:ext uri="{FF2B5EF4-FFF2-40B4-BE49-F238E27FC236}">
                <a16:creationId xmlns:a16="http://schemas.microsoft.com/office/drawing/2014/main" id="{236425F1-A1A6-43E7-9CBB-6F10DBA81227}"/>
              </a:ext>
            </a:extLst>
          </p:cNvPr>
          <p:cNvSpPr>
            <a:spLocks xmlns:a="http://schemas.openxmlformats.org/drawingml/2006/main" noGrp="1"/>
          </p:cNvSpPr>
          <p:nvPr/>
        </p:nvSpPr>
        <p:spPr>
          <a:xfrm xmlns:a="http://schemas.openxmlformats.org/drawingml/2006/main">
            <a:off x="609600" y="5657850"/>
            <a:ext cx="109728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213547"/>
                </a:solidFill>
                <a:latin typeface="DejaVu Sans"/>
                <a:ea typeface="DejaVu Sans"/>
                <a:cs typeface="DejaVu Sans"/>
              </a:defRPr>
            </a:defPPr>
          </a:lstStyle>
          <a:p xmlns:a="http://schemas.openxmlformats.org/drawingml/2006/main">
            <a:pPr>
              <a:defRPr sz="1725" b="0">
                <a:solidFill>
                  <a:srgbClr val="213547"/>
                </a:solidFill>
                <a:latin typeface="DejaVu Sans"/>
                <a:ea typeface="DejaVu Sans"/>
                <a:cs typeface="DejaVu Sans"/>
              </a:defRPr>
            </a:pPr>
            <a:r>
              <a:rPr sz="1725" b="0">
                <a:solidFill>
                  <a:srgbClr val="213547"/>
                </a:solidFill>
                <a:latin typeface="DejaVu Sans"/>
                <a:ea typeface="DejaVu Sans"/>
                <a:cs typeface="DejaVu Sans"/>
              </a:rPr>
              <a:t>BUG-01 / BUG-03 trong repo do TV2 báo cáo; TV3 chỉ ghi “tái hiện” khi có log riêng.</a:t>
            </a:r>
          </a:p>
        </p:txBody>
      </p:sp>
    </p:spTree>
    <p:extLst>
      <p:ext uri="{BB962C8B-B14F-4D97-AF65-F5344CB8AC3E}">
        <p14:creationId xmlns:p14="http://schemas.microsoft.com/office/powerpoint/2010/main" val="14945488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58B3C8-56B1-466A-AD2F-318EF1B0039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96F13A45-1213-4A09-8D45-2C4DDA7F465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02A43"/>
                </a:solidFill>
                <a:latin typeface="DejaVu Sans"/>
                <a:ea typeface="DejaVu Sans"/>
                <a:cs typeface="DejaVu Sans"/>
              </a:defRPr>
            </a:defPPr>
          </a:lstStyle>
          <a:p xmlns:a="http://schemas.openxmlformats.org/drawingml/2006/main">
            <a:pPr>
              <a:defRPr sz="2850" b="1">
                <a:solidFill>
                  <a:srgbClr val="102A43"/>
                </a:solidFill>
                <a:latin typeface="DejaVu Sans"/>
                <a:ea typeface="DejaVu Sans"/>
                <a:cs typeface="DejaVu Sans"/>
              </a:defRPr>
            </a:pPr>
            <a:r>
              <a:rPr sz="2850" b="1">
                <a:solidFill>
                  <a:srgbClr val="102A43"/>
                </a:solidFill>
                <a:latin typeface="DejaVu Sans"/>
                <a:ea typeface="DejaVu Sans"/>
                <a:cs typeface="DejaVu Sans"/>
              </a:rPr>
              <a:t>Bằng chứng kiểm thử của TV3</a:t>
            </a:r>
          </a:p>
        </p:txBody>
      </p:sp>
      <p:sp>
        <p:nvSpPr>
          <p:cNvPr id="3" name="">
            <a:extLst xmlns:a="http://schemas.openxmlformats.org/drawingml/2006/main">
              <a:ext uri="{FF2B5EF4-FFF2-40B4-BE49-F238E27FC236}">
                <a16:creationId xmlns:a16="http://schemas.microsoft.com/office/drawing/2014/main" id="{C8739908-F3CA-4B6F-8A28-7AE03C37895D}"/>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DD9E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098D3349-7894-4616-97F0-2DB28AEC5CCB}"/>
              </a:ext>
            </a:extLst>
          </p:cNvPr>
          <p:cNvSpPr>
            <a:spLocks xmlns:a="http://schemas.openxmlformats.org/drawingml/2006/main" noGrp="1"/>
          </p:cNvSpPr>
          <p:nvPr/>
        </p:nvSpPr>
        <p:spPr>
          <a:xfrm xmlns:a="http://schemas.openxmlformats.org/drawingml/2006/main">
            <a:off x="609600" y="64198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TV3 · Nguyễn Khiêm Thuận · Phần D–E</a:t>
            </a:r>
          </a:p>
        </p:txBody>
      </p:sp>
      <p:sp>
        <p:nvSpPr>
          <p:cNvPr id="5" name="text-4">
            <a:extLst xmlns:a="http://schemas.openxmlformats.org/drawingml/2006/main">
              <a:ext uri="{FF2B5EF4-FFF2-40B4-BE49-F238E27FC236}">
                <a16:creationId xmlns:a16="http://schemas.microsoft.com/office/drawing/2014/main" id="{0ABE4627-BB5F-45DE-B1E4-70E6F4357029}"/>
              </a:ext>
            </a:extLst>
          </p:cNvPr>
          <p:cNvSpPr>
            <a:spLocks xmlns:a="http://schemas.openxmlformats.org/drawingml/2006/main" noGrp="1"/>
          </p:cNvSpPr>
          <p:nvPr/>
        </p:nvSpPr>
        <p:spPr>
          <a:xfrm xmlns:a="http://schemas.openxmlformats.org/drawingml/2006/main">
            <a:off x="11125200" y="6419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51667A"/>
                </a:solidFill>
                <a:latin typeface="DejaVu Sans"/>
                <a:ea typeface="DejaVu Sans"/>
                <a:cs typeface="DejaVu Sans"/>
              </a:defRPr>
            </a:defPPr>
          </a:lstStyle>
          <a:p xmlns:a="http://schemas.openxmlformats.org/drawingml/2006/main">
            <a:pPr>
              <a:defRPr sz="1125" b="0">
                <a:solidFill>
                  <a:srgbClr val="51667A"/>
                </a:solidFill>
                <a:latin typeface="DejaVu Sans"/>
                <a:ea typeface="DejaVu Sans"/>
                <a:cs typeface="DejaVu Sans"/>
              </a:defRPr>
            </a:pPr>
            <a:r>
              <a:rPr sz="1125" b="0">
                <a:solidFill>
                  <a:srgbClr val="51667A"/>
                </a:solidFill>
                <a:latin typeface="DejaVu Sans"/>
                <a:ea typeface="DejaVu Sans"/>
                <a:cs typeface="DejaVu Sans"/>
              </a:rPr>
              <a:t>10</a:t>
            </a:r>
          </a:p>
        </p:txBody>
      </p:sp>
      <p:graphicFrame>
        <p:nvGraphicFramePr>
          <p:cNvPr id="6" name="">
            <a:extLst xmlns:a="http://schemas.openxmlformats.org/drawingml/2006/main">
              <a:ext uri="{FF2B5EF4-FFF2-40B4-BE49-F238E27FC236}">
                <a16:creationId xmlns:a16="http://schemas.microsoft.com/office/drawing/2014/main" id="{9B215F12-2A35-40E5-B631-49F84229030A}"/>
              </a:ext>
            </a:extLst>
          </p:cNvPr>
          <p:cNvGraphicFramePr/>
          <p:nvPr/>
        </p:nvGraphicFramePr>
        <p:xfrm>
          <a:off xmlns:a="http://schemas.openxmlformats.org/drawingml/2006/main" x="609600" y="1762125"/>
          <a:ext xmlns:a="http://schemas.openxmlformats.org/drawingml/2006/main" cx="10972800" cy="3381375"/>
        </p:xfrm>
        <a:graphic xmlns:a="http://schemas.openxmlformats.org/drawingml/2006/main">
          <a:graphicData uri="http://schemas.openxmlformats.org/drawingml/2006/table">
            <a:tbl>
              <a:tblPr/>
              <a:tblGrid>
                <a:gridCol w="5305425"/>
                <a:gridCol w="5667375"/>
              </a:tblGrid>
              <a:tr h="676275">
                <a:tc>
                  <a:txBody>
                    <a:bodyPr/>
                    <a:lstStyle/>
                    <a:p>
                      <a:r>
                        <a:rPr sz="1725" b="1">
                          <a:solidFill>
                            <a:srgbClr val="FFFFFF"/>
                          </a:solidFill>
                          <a:latin typeface="DejaVu Sans"/>
                          <a:ea typeface="DejaVu Sans"/>
                          <a:cs typeface="DejaVu Sans"/>
                        </a:rPr>
                        <a:t>Nội dung</a:t>
                      </a:r>
                    </a:p>
                  </a:txBody>
                  <a:tcPr marL="152400" marR="152400" marT="114300" marB="114300" anchor="ctr">
                    <a:lnL w="9525">
                      <a:solidFill>
                        <a:srgbClr val="CDD9E0"/>
                      </a:solidFill>
                      <a:prstDash val="solid"/>
                    </a:lnL>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c>
                  <a:txBody>
                    <a:bodyPr/>
                    <a:lstStyle/>
                    <a:p>
                      <a:r>
                        <a:rPr sz="1725" b="1">
                          <a:solidFill>
                            <a:srgbClr val="FFFFFF"/>
                          </a:solidFill>
                          <a:latin typeface="DejaVu Sans"/>
                          <a:ea typeface="DejaVu Sans"/>
                          <a:cs typeface="DejaVu Sans"/>
                        </a:rPr>
                        <a:t>Trạng thái tại thời điểm chuẩn bị</a:t>
                      </a:r>
                    </a:p>
                  </a:txBody>
                  <a:tcPr marL="152400" marR="152400" marT="114300" marB="114300" anchor="ctr">
                    <a:lnR w="9525">
                      <a:solidFill>
                        <a:srgbClr val="CDD9E0"/>
                      </a:solidFill>
                      <a:prstDash val="solid"/>
                    </a:lnR>
                    <a:lnT w="9525">
                      <a:solidFill>
                        <a:srgbClr val="CDD9E0"/>
                      </a:solidFill>
                      <a:prstDash val="solid"/>
                    </a:lnT>
                    <a:lnB w="9525">
                      <a:solidFill>
                        <a:srgbClr val="CDD9E0"/>
                      </a:solidFill>
                      <a:prstDash val="solid"/>
                    </a:lnB>
                    <a:solidFill>
                      <a:srgbClr val="102A43"/>
                    </a:solidFill>
                  </a:tcPr>
                </a:tc>
              </a:tr>
              <a:tr h="676275">
                <a:tc>
                  <a:txBody>
                    <a:bodyPr/>
                    <a:lstStyle/>
                    <a:p>
                      <a:r>
                        <a:rPr sz="1725" b="0">
                          <a:solidFill>
                            <a:srgbClr val="213547"/>
                          </a:solidFill>
                          <a:latin typeface="DejaVu Sans"/>
                          <a:ea typeface="DejaVu Sans"/>
                          <a:cs typeface="DejaVu Sans"/>
                        </a:rPr>
                        <a:t>Kế hoạch D–E và bảng test case</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Đã soạn; chờ đối chiếu schema local</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76275">
                <a:tc>
                  <a:txBody>
                    <a:bodyPr/>
                    <a:lstStyle/>
                    <a:p>
                      <a:r>
                        <a:rPr sz="1725" b="0">
                          <a:solidFill>
                            <a:srgbClr val="213547"/>
                          </a:solidFill>
                          <a:latin typeface="DejaVu Sans"/>
                          <a:ea typeface="DejaVu Sans"/>
                          <a:cs typeface="DejaVu Sans"/>
                        </a:rPr>
                        <a:t>CLI Schemathesis 4.30.1</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Đã kiểm tra --version và --help</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r h="676275">
                <a:tc>
                  <a:txBody>
                    <a:bodyPr/>
                    <a:lstStyle/>
                    <a:p>
                      <a:r>
                        <a:rPr sz="1725" b="0">
                          <a:solidFill>
                            <a:srgbClr val="213547"/>
                          </a:solidFill>
                          <a:latin typeface="DejaVu Sans"/>
                          <a:ea typeface="DejaVu Sans"/>
                          <a:cs typeface="DejaVu Sans"/>
                        </a:rPr>
                        <a:t>Vòng 1 / Vòng 2 / Vòng 3, seed 303</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2F6F8"/>
                    </a:solidFill>
                  </a:tcPr>
                </a:tc>
                <a:tc>
                  <a:txBody>
                    <a:bodyPr/>
                    <a:lstStyle/>
                    <a:p>
                      <a:r>
                        <a:rPr sz="1725" b="0">
                          <a:solidFill>
                            <a:srgbClr val="213547"/>
                          </a:solidFill>
                          <a:latin typeface="DejaVu Sans"/>
                          <a:ea typeface="DejaVu Sans"/>
                          <a:cs typeface="DejaVu Sans"/>
                        </a:rPr>
                        <a:t>CHƯA CHẠY — chưa có log TV3</a:t>
                      </a:r>
                    </a:p>
                  </a:txBody>
                  <a:tcPr marL="152400" marR="152400" marT="114300" marB="114300" anchor="ctr">
                    <a:lnR w="9525">
                      <a:solidFill>
                        <a:srgbClr val="CDD9E0"/>
                      </a:solidFill>
                      <a:prstDash val="solid"/>
                    </a:lnR>
                    <a:lnB w="9525">
                      <a:solidFill>
                        <a:srgbClr val="CDD9E0"/>
                      </a:solidFill>
                      <a:prstDash val="solid"/>
                    </a:lnB>
                    <a:solidFill>
                      <a:srgbClr val="F2F6F8"/>
                    </a:solidFill>
                  </a:tcPr>
                </a:tc>
              </a:tr>
              <a:tr h="676275">
                <a:tc>
                  <a:txBody>
                    <a:bodyPr/>
                    <a:lstStyle/>
                    <a:p>
                      <a:r>
                        <a:rPr sz="1725" b="0">
                          <a:solidFill>
                            <a:srgbClr val="213547"/>
                          </a:solidFill>
                          <a:latin typeface="DejaVu Sans"/>
                          <a:ea typeface="DejaVu Sans"/>
                          <a:cs typeface="DejaVu Sans"/>
                        </a:rPr>
                        <a:t>Ba luồng nghiệp vụ và ảnh minh chứng</a:t>
                      </a:r>
                    </a:p>
                  </a:txBody>
                  <a:tcPr marL="152400" marR="152400" marT="114300" marB="114300" anchor="ctr">
                    <a:lnL w="9525">
                      <a:solidFill>
                        <a:srgbClr val="CDD9E0"/>
                      </a:solidFill>
                      <a:prstDash val="solid"/>
                    </a:lnL>
                    <a:lnR w="9525">
                      <a:solidFill>
                        <a:srgbClr val="CDD9E0"/>
                      </a:solidFill>
                      <a:prstDash val="solid"/>
                    </a:lnR>
                    <a:lnB w="9525">
                      <a:solidFill>
                        <a:srgbClr val="CDD9E0"/>
                      </a:solidFill>
                      <a:prstDash val="solid"/>
                    </a:lnB>
                    <a:solidFill>
                      <a:srgbClr val="FFFFFF"/>
                    </a:solidFill>
                  </a:tcPr>
                </a:tc>
                <a:tc>
                  <a:txBody>
                    <a:bodyPr/>
                    <a:lstStyle/>
                    <a:p>
                      <a:r>
                        <a:rPr sz="1725" b="0">
                          <a:solidFill>
                            <a:srgbClr val="213547"/>
                          </a:solidFill>
                          <a:latin typeface="DejaVu Sans"/>
                          <a:ea typeface="DejaVu Sans"/>
                          <a:cs typeface="DejaVu Sans"/>
                        </a:rPr>
                        <a:t>CHƯA CÓ bằng chứng TV3</a:t>
                      </a:r>
                    </a:p>
                  </a:txBody>
                  <a:tcPr marL="152400" marR="152400" marT="114300" marB="114300" anchor="ctr">
                    <a:lnR w="9525">
                      <a:solidFill>
                        <a:srgbClr val="CDD9E0"/>
                      </a:solidFill>
                      <a:prstDash val="solid"/>
                    </a:lnR>
                    <a:lnB w="9525">
                      <a:solidFill>
                        <a:srgbClr val="CDD9E0"/>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72BE97A-2692-446C-915C-C5F77C738811}"/>
              </a:ext>
            </a:extLst>
          </p:cNvPr>
          <p:cNvSpPr>
            <a:spLocks xmlns:a="http://schemas.openxmlformats.org/drawingml/2006/main" noGrp="1"/>
          </p:cNvSpPr>
          <p:nvPr/>
        </p:nvSpPr>
        <p:spPr>
          <a:xfrm xmlns:a="http://schemas.openxmlformats.org/drawingml/2006/main">
            <a:off x="609600" y="5410200"/>
            <a:ext cx="10972800" cy="685800"/>
          </a:xfrm>
          <a:prstGeom xmlns:a="http://schemas.openxmlformats.org/drawingml/2006/main" prst="rect">
            <a:avLst/>
          </a:prstGeom>
          <a:solidFill xmlns:a="http://schemas.openxmlformats.org/drawingml/2006/main">
            <a:srgbClr val="FFF4DB"/>
          </a:solidFill>
          <a:ln xmlns:a="http://schemas.openxmlformats.org/drawingml/2006/main" w="0">
            <a:noFill/>
            <a:prstDash val="solid"/>
          </a:ln>
        </p:spPr>
      </p:sp>
      <p:sp>
        <p:nvSpPr>
          <p:cNvPr id="8" name="text-6">
            <a:extLst xmlns:a="http://schemas.openxmlformats.org/drawingml/2006/main">
              <a:ext uri="{FF2B5EF4-FFF2-40B4-BE49-F238E27FC236}">
                <a16:creationId xmlns:a16="http://schemas.microsoft.com/office/drawing/2014/main" id="{ECC12E1E-3D47-424C-95B5-BEC5159DBAE6}"/>
              </a:ext>
            </a:extLst>
          </p:cNvPr>
          <p:cNvSpPr>
            <a:spLocks xmlns:a="http://schemas.openxmlformats.org/drawingml/2006/main" noGrp="1"/>
          </p:cNvSpPr>
          <p:nvPr/>
        </p:nvSpPr>
        <p:spPr>
          <a:xfrm xmlns:a="http://schemas.openxmlformats.org/drawingml/2006/main">
            <a:off x="800100" y="56007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996100"/>
                </a:solidFill>
                <a:latin typeface="DejaVu Sans"/>
                <a:ea typeface="DejaVu Sans"/>
                <a:cs typeface="DejaVu Sans"/>
              </a:defRPr>
            </a:defPPr>
          </a:lstStyle>
          <a:p xmlns:a="http://schemas.openxmlformats.org/drawingml/2006/main">
            <a:pPr>
              <a:defRPr sz="1800" b="1">
                <a:solidFill>
                  <a:srgbClr val="996100"/>
                </a:solidFill>
                <a:latin typeface="DejaVu Sans"/>
                <a:ea typeface="DejaVu Sans"/>
                <a:cs typeface="DejaVu Sans"/>
              </a:defRPr>
            </a:pPr>
            <a:r>
              <a:rPr sz="1800" b="1">
                <a:solidFill>
                  <a:srgbClr val="996100"/>
                </a:solidFill>
                <a:latin typeface="DejaVu Sans"/>
                <a:ea typeface="DejaVu Sans"/>
                <a:cs typeface="DejaVu Sans"/>
              </a:rPr>
              <a:t>Cập nhật trang này bằng log thật trước khi báo cáo kết quả thực thi.</a:t>
            </a:r>
          </a:p>
        </p:txBody>
      </p:sp>
    </p:spTree>
    <p:extLst>
      <p:ext uri="{BB962C8B-B14F-4D97-AF65-F5344CB8AC3E}">
        <p14:creationId xmlns:p14="http://schemas.microsoft.com/office/powerpoint/2010/main" val="431915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2026-10-13T04:30:38.2890000Z</dcterms:created>
  <dcterms:modified xsi:type="dcterms:W3CDTF">2026-10-13T04:30:38.2890000Z</dcterms:modified>
</coreProperties>
</file>